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23"/>
  </p:notesMasterIdLst>
  <p:sldIdLst>
    <p:sldId id="256" r:id="rId2"/>
    <p:sldId id="257" r:id="rId3"/>
    <p:sldId id="258" r:id="rId4"/>
    <p:sldId id="259" r:id="rId5"/>
    <p:sldId id="271" r:id="rId6"/>
    <p:sldId id="260" r:id="rId7"/>
    <p:sldId id="273" r:id="rId8"/>
    <p:sldId id="274" r:id="rId9"/>
    <p:sldId id="275" r:id="rId10"/>
    <p:sldId id="276" r:id="rId11"/>
    <p:sldId id="277" r:id="rId12"/>
    <p:sldId id="278" r:id="rId13"/>
    <p:sldId id="272" r:id="rId14"/>
    <p:sldId id="261" r:id="rId15"/>
    <p:sldId id="264" r:id="rId16"/>
    <p:sldId id="265" r:id="rId17"/>
    <p:sldId id="266" r:id="rId18"/>
    <p:sldId id="267" r:id="rId19"/>
    <p:sldId id="268" r:id="rId20"/>
    <p:sldId id="269"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3AB"/>
    <a:srgbClr val="3C0A02"/>
    <a:srgbClr val="660033"/>
    <a:srgbClr val="241338"/>
    <a:srgbClr val="515151"/>
    <a:srgbClr val="111111"/>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snapToObjects="1">
      <p:cViewPr varScale="1">
        <p:scale>
          <a:sx n="103" d="100"/>
          <a:sy n="103" d="100"/>
        </p:scale>
        <p:origin x="9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7F0C6-45BB-4D36-9BD8-DD9192119A21}"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09C234-60B6-4700-9452-6D300D277B20}" type="slidenum">
              <a:rPr lang="en-IN" smtClean="0"/>
              <a:t>‹#›</a:t>
            </a:fld>
            <a:endParaRPr lang="en-IN"/>
          </a:p>
        </p:txBody>
      </p:sp>
    </p:spTree>
    <p:extLst>
      <p:ext uri="{BB962C8B-B14F-4D97-AF65-F5344CB8AC3E}">
        <p14:creationId xmlns:p14="http://schemas.microsoft.com/office/powerpoint/2010/main" val="1180854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F09C234-60B6-4700-9452-6D300D277B20}" type="slidenum">
              <a:rPr lang="en-IN" smtClean="0"/>
              <a:t>10</a:t>
            </a:fld>
            <a:endParaRPr lang="en-IN"/>
          </a:p>
        </p:txBody>
      </p:sp>
    </p:spTree>
    <p:extLst>
      <p:ext uri="{BB962C8B-B14F-4D97-AF65-F5344CB8AC3E}">
        <p14:creationId xmlns:p14="http://schemas.microsoft.com/office/powerpoint/2010/main" val="4027575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62C0-1550-EAA8-CAD0-2B4AFC17F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7A7B8-54D1-A68E-7289-FFEE9D1C6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B5EB3-3F0F-49FF-7BB6-34AD6589A0C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B2465B-ACD6-DDDE-D8CA-F3378CBD62E3}"/>
              </a:ext>
            </a:extLst>
          </p:cNvPr>
          <p:cNvSpPr>
            <a:spLocks noGrp="1"/>
          </p:cNvSpPr>
          <p:nvPr>
            <p:ph type="sldNum" sz="quarter" idx="5"/>
          </p:nvPr>
        </p:nvSpPr>
        <p:spPr/>
        <p:txBody>
          <a:bodyPr/>
          <a:lstStyle/>
          <a:p>
            <a:fld id="{FF09C234-60B6-4700-9452-6D300D277B20}" type="slidenum">
              <a:rPr lang="en-IN" smtClean="0"/>
              <a:t>11</a:t>
            </a:fld>
            <a:endParaRPr lang="en-IN"/>
          </a:p>
        </p:txBody>
      </p:sp>
    </p:spTree>
    <p:extLst>
      <p:ext uri="{BB962C8B-B14F-4D97-AF65-F5344CB8AC3E}">
        <p14:creationId xmlns:p14="http://schemas.microsoft.com/office/powerpoint/2010/main" val="3940559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0981-38FC-8F5B-D4B6-4E76E9DEF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65F35-37F8-AACF-C13D-D620369D2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3482A-B81D-9651-3D1E-3A0AC01ADA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566CD7-45FD-E670-B988-87D9A469E873}"/>
              </a:ext>
            </a:extLst>
          </p:cNvPr>
          <p:cNvSpPr>
            <a:spLocks noGrp="1"/>
          </p:cNvSpPr>
          <p:nvPr>
            <p:ph type="sldNum" sz="quarter" idx="5"/>
          </p:nvPr>
        </p:nvSpPr>
        <p:spPr/>
        <p:txBody>
          <a:bodyPr/>
          <a:lstStyle/>
          <a:p>
            <a:fld id="{FF09C234-60B6-4700-9452-6D300D277B20}" type="slidenum">
              <a:rPr lang="en-IN" smtClean="0"/>
              <a:t>12</a:t>
            </a:fld>
            <a:endParaRPr lang="en-IN"/>
          </a:p>
        </p:txBody>
      </p:sp>
    </p:spTree>
    <p:extLst>
      <p:ext uri="{BB962C8B-B14F-4D97-AF65-F5344CB8AC3E}">
        <p14:creationId xmlns:p14="http://schemas.microsoft.com/office/powerpoint/2010/main" val="10143439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7FA43F5B-065E-43CE-B3FD-98C48A6F94D7}" type="datetime1">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26574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73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7FA43F5B-065E-43CE-B3FD-98C48A6F94D7}" type="datetime1">
              <a:rPr lang="en-US" smtClean="0"/>
              <a:t>9/23/2026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2DE90F28-AFBB-4AB2-AA79-6D3F72ED131B}" type="slidenum">
              <a:rPr lang="en-US" smtClean="0"/>
              <a:t>‹#›</a:t>
            </a:fld>
            <a:endParaRPr lang="en-US" dirty="0"/>
          </a:p>
        </p:txBody>
      </p:sp>
    </p:spTree>
    <p:extLst>
      <p:ext uri="{BB962C8B-B14F-4D97-AF65-F5344CB8AC3E}">
        <p14:creationId xmlns:p14="http://schemas.microsoft.com/office/powerpoint/2010/main" val="6800490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96814342"/>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EEE2A7A0-B9EE-41A8-8016-28E5803F20B2}" type="datetime1">
              <a:rPr lang="en-US" smtClean="0"/>
              <a:pPr/>
              <a:t>9/23/2026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2900715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3D6F41-6645-4089-A6BB-7B692A44A4CC}" type="datetime1">
              <a:rPr lang="en-US" smtClean="0"/>
              <a:pPr/>
              <a:t>9/23/2026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670407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721898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6568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9996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4906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835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1FF6DA9-008F-8B48-92A6-B652298478BF}" type="slidenum">
              <a:rPr lang="en-US" smtClean="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183258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789956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A43F5B-065E-43CE-B3FD-98C48A6F94D7}" type="datetime1">
              <a:rPr lang="en-US" smtClean="0"/>
              <a:pPr/>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11316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FA43F5B-065E-43CE-B3FD-98C48A6F94D7}" type="datetime1">
              <a:rPr lang="en-US" smtClean="0"/>
              <a:pPr/>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9875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8839439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1FF6DA9-008F-8B48-92A6-B652298478BF}" type="slidenum">
              <a:rPr lang="en-US" smtClean="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837922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9530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5AD3D17-73C9-402C-91E7-BA73E6829C50}" type="datetime1">
              <a:rPr lang="en-US" smtClean="0"/>
              <a:pPr/>
              <a:t>9/23/2026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339064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3633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4D63035D-22A0-4334-A9AE-2457016C8B47}" type="datetime1">
              <a:rPr lang="en-US" smtClean="0"/>
              <a:pPr/>
              <a:t>9/23/2026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924171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581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23342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65622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81340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070026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919439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5BCAD085-E8A6-8845-BD4E-CB4CCA059FC4}" type="datetimeFigureOut">
              <a:rPr lang="en-US" smtClean="0"/>
              <a:t>9/23/2026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49011734"/>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Lst>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a:t>
            </a:r>
          </a:p>
        </p:txBody>
      </p:sp>
      <p:sp>
        <p:nvSpPr>
          <p:cNvPr id="6" name="TextBox 5"/>
          <p:cNvSpPr txBox="1"/>
          <p:nvPr/>
        </p:nvSpPr>
        <p:spPr>
          <a:xfrm>
            <a:off x="679965" y="917574"/>
            <a:ext cx="11671246" cy="769441"/>
          </a:xfrm>
          <a:prstGeom prst="rect">
            <a:avLst/>
          </a:prstGeom>
          <a:noFill/>
        </p:spPr>
        <p:txBody>
          <a:bodyPr wrap="square">
            <a:spAutoFit/>
          </a:bodyPr>
          <a:lstStyle/>
          <a:p>
            <a:pPr>
              <a:defRPr sz="4000" b="1">
                <a:solidFill>
                  <a:srgbClr val="14305C"/>
                </a:solidFill>
                <a:latin typeface="Arial"/>
              </a:defRPr>
            </a:pPr>
            <a:r>
              <a:rPr lang="en-IN" dirty="0"/>
              <a:t> </a:t>
            </a:r>
            <a:r>
              <a:rPr sz="4400" dirty="0">
                <a:latin typeface="Century" panose="02040604050505020304" pitchFamily="18" charset="0"/>
                <a:ea typeface="Artifakt Element Heavy" panose="020B0B03050000020004" pitchFamily="34" charset="0"/>
              </a:rPr>
              <a:t>Animation Through</a:t>
            </a:r>
            <a:r>
              <a:rPr lang="en-IN" sz="4400" dirty="0">
                <a:latin typeface="Century" panose="02040604050505020304" pitchFamily="18" charset="0"/>
                <a:ea typeface="Artifakt Element Heavy" panose="020B0B03050000020004" pitchFamily="34" charset="0"/>
              </a:rPr>
              <a:t> </a:t>
            </a:r>
            <a:r>
              <a:rPr sz="4400" dirty="0">
                <a:latin typeface="Century" panose="02040604050505020304" pitchFamily="18" charset="0"/>
                <a:ea typeface="Artifakt Element Heavy" panose="020B0B03050000020004" pitchFamily="34" charset="0"/>
              </a:rPr>
              <a:t>Freelancing </a:t>
            </a:r>
            <a:r>
              <a:rPr sz="4400" dirty="0" err="1">
                <a:latin typeface="Century" panose="02040604050505020304" pitchFamily="18" charset="0"/>
                <a:ea typeface="Artifakt Element Heavy" panose="020B0B03050000020004" pitchFamily="34" charset="0"/>
              </a:rPr>
              <a:t>i</a:t>
            </a:r>
            <a:r>
              <a:rPr lang="en-IN" sz="4400" dirty="0">
                <a:latin typeface="Century" panose="02040604050505020304" pitchFamily="18" charset="0"/>
                <a:ea typeface="Artifakt Element Heavy" panose="020B0B03050000020004" pitchFamily="34" charset="0"/>
              </a:rPr>
              <a:t>n </a:t>
            </a:r>
            <a:r>
              <a:rPr sz="4400" dirty="0">
                <a:latin typeface="Century" panose="02040604050505020304" pitchFamily="18" charset="0"/>
                <a:ea typeface="Artifakt Element Heavy" panose="020B0B03050000020004" pitchFamily="34" charset="0"/>
              </a:rPr>
              <a:t>Java</a:t>
            </a:r>
          </a:p>
        </p:txBody>
      </p:sp>
      <p:sp>
        <p:nvSpPr>
          <p:cNvPr id="8" name="Rounded Rectangle 7"/>
          <p:cNvSpPr/>
          <p:nvPr/>
        </p:nvSpPr>
        <p:spPr>
          <a:xfrm>
            <a:off x="689691" y="4818888"/>
            <a:ext cx="4709160" cy="1523546"/>
          </a:xfrm>
          <a:prstGeom prst="roundRect">
            <a:avLst/>
          </a:prstGeom>
          <a:ln w="12700">
            <a:solidFill>
              <a:srgbClr val="317BC4"/>
            </a:solidFill>
          </a:ln>
        </p:spPr>
        <p:style>
          <a:lnRef idx="1">
            <a:schemeClr val="accent1"/>
          </a:lnRef>
          <a:fillRef idx="1001">
            <a:schemeClr val="lt2"/>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9720" y="4901812"/>
            <a:ext cx="4846320" cy="338554"/>
          </a:xfrm>
          <a:prstGeom prst="rect">
            <a:avLst/>
          </a:prstGeom>
          <a:noFill/>
        </p:spPr>
        <p:txBody>
          <a:bodyPr wrap="square">
            <a:spAutoFit/>
          </a:bodyPr>
          <a:lstStyle/>
          <a:p>
            <a:pPr>
              <a:defRPr sz="1600" b="1">
                <a:solidFill>
                  <a:srgbClr val="14305C"/>
                </a:solidFill>
                <a:latin typeface="Arial"/>
              </a:defRPr>
            </a:pPr>
            <a:r>
              <a:rPr lang="en-IN" dirty="0">
                <a:solidFill>
                  <a:schemeClr val="tx1">
                    <a:lumMod val="95000"/>
                    <a:lumOff val="5000"/>
                  </a:schemeClr>
                </a:solidFill>
              </a:rPr>
              <a:t>PRESENTED BY:</a:t>
            </a:r>
            <a:endParaRPr dirty="0">
              <a:solidFill>
                <a:schemeClr val="tx1">
                  <a:lumMod val="95000"/>
                  <a:lumOff val="5000"/>
                </a:schemeClr>
              </a:solidFill>
            </a:endParaRPr>
          </a:p>
        </p:txBody>
      </p:sp>
      <p:sp>
        <p:nvSpPr>
          <p:cNvPr id="10" name="TextBox 9"/>
          <p:cNvSpPr txBox="1"/>
          <p:nvPr/>
        </p:nvSpPr>
        <p:spPr>
          <a:xfrm>
            <a:off x="871405" y="5277343"/>
            <a:ext cx="5830954" cy="954107"/>
          </a:xfrm>
          <a:prstGeom prst="rect">
            <a:avLst/>
          </a:prstGeom>
          <a:noFill/>
        </p:spPr>
        <p:txBody>
          <a:bodyPr wrap="square">
            <a:spAutoFit/>
          </a:bodyPr>
          <a:lstStyle/>
          <a:p>
            <a:pPr>
              <a:defRPr sz="1400" b="0">
                <a:solidFill>
                  <a:srgbClr val="232D3C"/>
                </a:solidFill>
                <a:latin typeface="Arial"/>
              </a:defRPr>
            </a:pPr>
            <a:r>
              <a:rPr lang="en-IN" dirty="0"/>
              <a:t>Tanu Rathore</a:t>
            </a:r>
            <a:r>
              <a:rPr dirty="0"/>
              <a:t> </a:t>
            </a:r>
            <a:endParaRPr lang="en-IN" dirty="0"/>
          </a:p>
          <a:p>
            <a:pPr>
              <a:defRPr sz="1400" b="0">
                <a:solidFill>
                  <a:srgbClr val="232D3C"/>
                </a:solidFill>
                <a:latin typeface="Arial"/>
              </a:defRPr>
            </a:pPr>
            <a:r>
              <a:rPr lang="en-IN" dirty="0"/>
              <a:t>Arth Sharma</a:t>
            </a:r>
          </a:p>
          <a:p>
            <a:pPr>
              <a:defRPr sz="1400" b="0">
                <a:solidFill>
                  <a:srgbClr val="232D3C"/>
                </a:solidFill>
                <a:latin typeface="Arial"/>
              </a:defRPr>
            </a:pPr>
            <a:r>
              <a:rPr lang="en-IN" dirty="0"/>
              <a:t>Ansuman</a:t>
            </a:r>
            <a:r>
              <a:rPr dirty="0"/>
              <a:t> </a:t>
            </a:r>
            <a:r>
              <a:rPr lang="en-IN" dirty="0"/>
              <a:t>Mistry</a:t>
            </a:r>
          </a:p>
          <a:p>
            <a:pPr>
              <a:defRPr sz="1400" b="0">
                <a:solidFill>
                  <a:srgbClr val="232D3C"/>
                </a:solidFill>
                <a:latin typeface="Arial"/>
              </a:defRPr>
            </a:pPr>
            <a:r>
              <a:rPr lang="en-IN" dirty="0" err="1"/>
              <a:t>Tuleshwar</a:t>
            </a:r>
            <a:r>
              <a:rPr lang="en-IN" dirty="0"/>
              <a:t> Kumar Yadav</a:t>
            </a:r>
            <a:endParaRPr dirty="0"/>
          </a:p>
        </p:txBody>
      </p:sp>
      <p:pic>
        <p:nvPicPr>
          <p:cNvPr id="13" name="Picture 12">
            <a:extLst>
              <a:ext uri="{FF2B5EF4-FFF2-40B4-BE49-F238E27FC236}">
                <a16:creationId xmlns:a16="http://schemas.microsoft.com/office/drawing/2014/main" id="{7F59AE7B-CA6D-6B0F-69FC-86A5433F9EF1}"/>
              </a:ext>
            </a:extLst>
          </p:cNvPr>
          <p:cNvPicPr>
            <a:picLocks noChangeAspect="1"/>
          </p:cNvPicPr>
          <p:nvPr/>
        </p:nvPicPr>
        <p:blipFill>
          <a:blip r:embed="rId2"/>
          <a:stretch>
            <a:fillRect/>
          </a:stretch>
        </p:blipFill>
        <p:spPr>
          <a:xfrm>
            <a:off x="3923069" y="1896606"/>
            <a:ext cx="3875895" cy="2601075"/>
          </a:xfrm>
          <a:prstGeom prst="rect">
            <a:avLst/>
          </a:prstGeom>
        </p:spPr>
      </p:pic>
      <p:sp>
        <p:nvSpPr>
          <p:cNvPr id="15" name="Rectangle: Rounded Corners 14">
            <a:extLst>
              <a:ext uri="{FF2B5EF4-FFF2-40B4-BE49-F238E27FC236}">
                <a16:creationId xmlns:a16="http://schemas.microsoft.com/office/drawing/2014/main" id="{908C790B-E478-E690-AFD0-87CC34E8CCC7}"/>
              </a:ext>
            </a:extLst>
          </p:cNvPr>
          <p:cNvSpPr/>
          <p:nvPr/>
        </p:nvSpPr>
        <p:spPr>
          <a:xfrm>
            <a:off x="6793151" y="4833567"/>
            <a:ext cx="4251852" cy="1523546"/>
          </a:xfrm>
          <a:prstGeom prst="roundRect">
            <a:avLst/>
          </a:prstGeom>
        </p:spPr>
        <p:style>
          <a:lnRef idx="2">
            <a:schemeClr val="accent6">
              <a:shade val="15000"/>
            </a:schemeClr>
          </a:lnRef>
          <a:fillRef idx="1001">
            <a:schemeClr val="lt2"/>
          </a:fillRef>
          <a:effectRef idx="0">
            <a:schemeClr val="accent6"/>
          </a:effectRef>
          <a:fontRef idx="minor">
            <a:schemeClr val="lt1"/>
          </a:fontRef>
        </p:style>
        <p:txBody>
          <a:bodyPr rtlCol="0" anchor="ctr"/>
          <a:lstStyle/>
          <a:p>
            <a:pPr algn="ctr"/>
            <a:r>
              <a:rPr lang="en-IN" b="1" dirty="0">
                <a:solidFill>
                  <a:schemeClr val="tx1">
                    <a:lumMod val="95000"/>
                    <a:lumOff val="5000"/>
                  </a:schemeClr>
                </a:solidFill>
              </a:rPr>
              <a:t>SUBMITTED TO</a:t>
            </a:r>
            <a:r>
              <a:rPr lang="en-IN" dirty="0">
                <a:solidFill>
                  <a:schemeClr val="tx1">
                    <a:lumMod val="95000"/>
                    <a:lumOff val="5000"/>
                  </a:schemeClr>
                </a:solidFill>
              </a:rPr>
              <a:t>:</a:t>
            </a:r>
          </a:p>
          <a:p>
            <a:pPr algn="ctr"/>
            <a:endParaRPr lang="en-IN" dirty="0">
              <a:solidFill>
                <a:schemeClr val="tx1">
                  <a:lumMod val="95000"/>
                  <a:lumOff val="5000"/>
                </a:schemeClr>
              </a:solidFill>
            </a:endParaRPr>
          </a:p>
          <a:p>
            <a:pPr algn="ctr"/>
            <a:r>
              <a:rPr lang="en-IN" dirty="0" err="1">
                <a:solidFill>
                  <a:schemeClr val="tx1">
                    <a:lumMod val="95000"/>
                    <a:lumOff val="5000"/>
                  </a:schemeClr>
                </a:solidFill>
              </a:rPr>
              <a:t>Mr.Ratnesh</a:t>
            </a:r>
            <a:r>
              <a:rPr lang="en-IN" dirty="0">
                <a:solidFill>
                  <a:schemeClr val="tx1">
                    <a:lumMod val="95000"/>
                    <a:lumOff val="5000"/>
                  </a:schemeClr>
                </a:solidFill>
              </a:rPr>
              <a:t> Shrivastav </a:t>
            </a:r>
          </a:p>
          <a:p>
            <a:pPr algn="ctr"/>
            <a:endParaRPr lang="en-IN" dirty="0">
              <a:solidFill>
                <a:schemeClr val="tx1">
                  <a:lumMod val="95000"/>
                  <a:lumOff val="5000"/>
                </a:schemeClr>
              </a:solidFill>
            </a:endParaRPr>
          </a:p>
          <a:p>
            <a:pPr algn="ctr"/>
            <a:endParaRPr lang="en-IN"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1. What is Animation?</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1</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2</a:t>
            </a:r>
          </a:p>
        </p:txBody>
      </p:sp>
      <p:sp>
        <p:nvSpPr>
          <p:cNvPr id="7" name="TextBox 6"/>
          <p:cNvSpPr txBox="1"/>
          <p:nvPr/>
        </p:nvSpPr>
        <p:spPr>
          <a:xfrm>
            <a:off x="822960" y="1417320"/>
            <a:ext cx="5669280" cy="3108960"/>
          </a:xfrm>
          <a:prstGeom prst="rect">
            <a:avLst/>
          </a:prstGeom>
          <a:noFill/>
        </p:spPr>
        <p:txBody>
          <a:bodyPr wrap="square">
            <a:spAutoFit/>
          </a:bodyPr>
          <a:lstStyle/>
          <a:p>
            <a:pPr>
              <a:spcAft>
                <a:spcPts val="1300"/>
              </a:spcAft>
              <a:defRPr sz="2100">
                <a:solidFill>
                  <a:srgbClr val="232D3C"/>
                </a:solidFill>
                <a:latin typeface="Arial"/>
              </a:defRPr>
            </a:pPr>
            <a:r>
              <a:t>Animation makes pictures or objects look like they are moving.</a:t>
            </a:r>
          </a:p>
          <a:p>
            <a:pPr>
              <a:spcAft>
                <a:spcPts val="1300"/>
              </a:spcAft>
              <a:defRPr sz="2100">
                <a:solidFill>
                  <a:srgbClr val="232D3C"/>
                </a:solidFill>
                <a:latin typeface="Arial"/>
              </a:defRPr>
            </a:pPr>
            <a:r>
              <a:t>It is made by showing many frames quickly.</a:t>
            </a:r>
          </a:p>
          <a:p>
            <a:pPr>
              <a:spcAft>
                <a:spcPts val="1300"/>
              </a:spcAft>
              <a:defRPr sz="2100">
                <a:solidFill>
                  <a:srgbClr val="232D3C"/>
                </a:solidFill>
                <a:latin typeface="Arial"/>
              </a:defRPr>
            </a:pPr>
            <a:r>
              <a:t>2D has height and width.</a:t>
            </a:r>
          </a:p>
          <a:p>
            <a:pPr>
              <a:spcAft>
                <a:spcPts val="1300"/>
              </a:spcAft>
              <a:defRPr sz="2100">
                <a:solidFill>
                  <a:srgbClr val="232D3C"/>
                </a:solidFill>
                <a:latin typeface="Arial"/>
              </a:defRPr>
            </a:pPr>
            <a:r>
              <a:t>3D also has depth.</a:t>
            </a:r>
          </a:p>
        </p:txBody>
      </p:sp>
      <p:sp>
        <p:nvSpPr>
          <p:cNvPr id="8" name="Rounded Rectangle 7"/>
          <p:cNvSpPr/>
          <p:nvPr/>
        </p:nvSpPr>
        <p:spPr>
          <a:xfrm>
            <a:off x="6995160" y="1828800"/>
            <a:ext cx="4023360" cy="123444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96328" y="1993392"/>
            <a:ext cx="3657600" cy="292608"/>
          </a:xfrm>
          <a:prstGeom prst="rect">
            <a:avLst/>
          </a:prstGeom>
          <a:noFill/>
        </p:spPr>
        <p:txBody>
          <a:bodyPr wrap="square">
            <a:spAutoFit/>
          </a:bodyPr>
          <a:lstStyle/>
          <a:p>
            <a:pPr>
              <a:defRPr sz="1600" b="1">
                <a:solidFill>
                  <a:srgbClr val="14305C"/>
                </a:solidFill>
                <a:latin typeface="Arial"/>
              </a:defRPr>
            </a:pPr>
            <a:r>
              <a:t>Examples</a:t>
            </a:r>
          </a:p>
        </p:txBody>
      </p:sp>
      <p:sp>
        <p:nvSpPr>
          <p:cNvPr id="10" name="TextBox 9"/>
          <p:cNvSpPr txBox="1"/>
          <p:nvPr/>
        </p:nvSpPr>
        <p:spPr>
          <a:xfrm>
            <a:off x="7196328" y="2395728"/>
            <a:ext cx="3657600" cy="576072"/>
          </a:xfrm>
          <a:prstGeom prst="rect">
            <a:avLst/>
          </a:prstGeom>
          <a:noFill/>
        </p:spPr>
        <p:txBody>
          <a:bodyPr wrap="square">
            <a:spAutoFit/>
          </a:bodyPr>
          <a:lstStyle/>
          <a:p>
            <a:pPr>
              <a:defRPr sz="1400" b="0">
                <a:solidFill>
                  <a:srgbClr val="232D3C"/>
                </a:solidFill>
                <a:latin typeface="Arial"/>
              </a:defRPr>
            </a:pPr>
            <a:r>
              <a:t>Games, cartoons, advertisements and educational videos</a:t>
            </a:r>
          </a:p>
        </p:txBody>
      </p:sp>
      <p:sp>
        <p:nvSpPr>
          <p:cNvPr id="11" name="Rounded Rectangle 10"/>
          <p:cNvSpPr/>
          <p:nvPr/>
        </p:nvSpPr>
        <p:spPr>
          <a:xfrm>
            <a:off x="6995160" y="3657600"/>
            <a:ext cx="4023360" cy="114300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96328" y="3822191"/>
            <a:ext cx="3657600" cy="292608"/>
          </a:xfrm>
          <a:prstGeom prst="rect">
            <a:avLst/>
          </a:prstGeom>
          <a:noFill/>
        </p:spPr>
        <p:txBody>
          <a:bodyPr wrap="square">
            <a:spAutoFit/>
          </a:bodyPr>
          <a:lstStyle/>
          <a:p>
            <a:pPr>
              <a:defRPr sz="1600" b="1">
                <a:solidFill>
                  <a:srgbClr val="14305C"/>
                </a:solidFill>
                <a:latin typeface="Arial"/>
              </a:defRPr>
            </a:pPr>
            <a:r>
              <a:t>Why use it?</a:t>
            </a:r>
          </a:p>
        </p:txBody>
      </p:sp>
      <p:sp>
        <p:nvSpPr>
          <p:cNvPr id="13" name="TextBox 12"/>
          <p:cNvSpPr txBox="1"/>
          <p:nvPr/>
        </p:nvSpPr>
        <p:spPr>
          <a:xfrm>
            <a:off x="7196328" y="4224528"/>
            <a:ext cx="3657600" cy="484632"/>
          </a:xfrm>
          <a:prstGeom prst="rect">
            <a:avLst/>
          </a:prstGeom>
          <a:noFill/>
        </p:spPr>
        <p:txBody>
          <a:bodyPr wrap="square">
            <a:spAutoFit/>
          </a:bodyPr>
          <a:lstStyle/>
          <a:p>
            <a:pPr>
              <a:defRPr sz="1400" b="0">
                <a:solidFill>
                  <a:srgbClr val="232D3C"/>
                </a:solidFill>
                <a:latin typeface="Arial"/>
              </a:defRPr>
            </a:pPr>
            <a:r>
              <a:t>It makes learning and applications more interesting.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2. Java and Animation</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1</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3</a:t>
            </a:r>
          </a:p>
        </p:txBody>
      </p:sp>
      <p:sp>
        <p:nvSpPr>
          <p:cNvPr id="7" name="TextBox 6"/>
          <p:cNvSpPr txBox="1"/>
          <p:nvPr/>
        </p:nvSpPr>
        <p:spPr>
          <a:xfrm>
            <a:off x="822960" y="1417320"/>
            <a:ext cx="5760720" cy="3383280"/>
          </a:xfrm>
          <a:prstGeom prst="rect">
            <a:avLst/>
          </a:prstGeom>
          <a:noFill/>
        </p:spPr>
        <p:txBody>
          <a:bodyPr wrap="square">
            <a:spAutoFit/>
          </a:bodyPr>
          <a:lstStyle/>
          <a:p>
            <a:pPr>
              <a:spcAft>
                <a:spcPts val="1300"/>
              </a:spcAft>
              <a:defRPr sz="2100">
                <a:solidFill>
                  <a:srgbClr val="232D3C"/>
                </a:solidFill>
                <a:latin typeface="Arial"/>
              </a:defRPr>
            </a:pPr>
            <a:r>
              <a:t>Java is a programming language.</a:t>
            </a:r>
          </a:p>
          <a:p>
            <a:pPr>
              <a:spcAft>
                <a:spcPts val="1300"/>
              </a:spcAft>
              <a:defRPr sz="2100">
                <a:solidFill>
                  <a:srgbClr val="232D3C"/>
                </a:solidFill>
                <a:latin typeface="Arial"/>
              </a:defRPr>
            </a:pPr>
            <a:r>
              <a:t>It can draw shapes, images and text.</a:t>
            </a:r>
          </a:p>
          <a:p>
            <a:pPr>
              <a:spcAft>
                <a:spcPts val="1300"/>
              </a:spcAft>
              <a:defRPr sz="2100">
                <a:solidFill>
                  <a:srgbClr val="232D3C"/>
                </a:solidFill>
                <a:latin typeface="Arial"/>
              </a:defRPr>
            </a:pPr>
            <a:r>
              <a:t>We can change an object's position to create movement.</a:t>
            </a:r>
          </a:p>
          <a:p>
            <a:pPr>
              <a:spcAft>
                <a:spcPts val="1300"/>
              </a:spcAft>
              <a:defRPr sz="2100">
                <a:solidFill>
                  <a:srgbClr val="232D3C"/>
                </a:solidFill>
                <a:latin typeface="Arial"/>
              </a:defRPr>
            </a:pPr>
            <a:r>
              <a:t>Java is useful for games, desktop apps and simulations.</a:t>
            </a:r>
          </a:p>
        </p:txBody>
      </p:sp>
      <p:sp>
        <p:nvSpPr>
          <p:cNvPr id="8" name="Rounded Rectangle 7"/>
          <p:cNvSpPr/>
          <p:nvPr/>
        </p:nvSpPr>
        <p:spPr>
          <a:xfrm>
            <a:off x="6903720" y="1920240"/>
            <a:ext cx="4206240" cy="118872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04888" y="2084832"/>
            <a:ext cx="3840479" cy="292608"/>
          </a:xfrm>
          <a:prstGeom prst="rect">
            <a:avLst/>
          </a:prstGeom>
          <a:noFill/>
        </p:spPr>
        <p:txBody>
          <a:bodyPr wrap="square">
            <a:spAutoFit/>
          </a:bodyPr>
          <a:lstStyle/>
          <a:p>
            <a:pPr>
              <a:defRPr sz="1600" b="1">
                <a:solidFill>
                  <a:srgbClr val="14305C"/>
                </a:solidFill>
                <a:latin typeface="Arial"/>
              </a:defRPr>
            </a:pPr>
            <a:r>
              <a:t>Main idea</a:t>
            </a:r>
          </a:p>
        </p:txBody>
      </p:sp>
      <p:sp>
        <p:nvSpPr>
          <p:cNvPr id="10" name="TextBox 9"/>
          <p:cNvSpPr txBox="1"/>
          <p:nvPr/>
        </p:nvSpPr>
        <p:spPr>
          <a:xfrm>
            <a:off x="7104888" y="2487168"/>
            <a:ext cx="3840479" cy="530352"/>
          </a:xfrm>
          <a:prstGeom prst="rect">
            <a:avLst/>
          </a:prstGeom>
          <a:noFill/>
        </p:spPr>
        <p:txBody>
          <a:bodyPr wrap="square">
            <a:spAutoFit/>
          </a:bodyPr>
          <a:lstStyle/>
          <a:p>
            <a:pPr>
              <a:defRPr sz="1400" b="0">
                <a:solidFill>
                  <a:srgbClr val="232D3C"/>
                </a:solidFill>
                <a:latin typeface="Arial"/>
              </a:defRPr>
            </a:pPr>
            <a:r>
              <a:t>Draw → Move → Repaint → Repeat</a:t>
            </a:r>
          </a:p>
        </p:txBody>
      </p:sp>
      <p:sp>
        <p:nvSpPr>
          <p:cNvPr id="11" name="TextBox 10"/>
          <p:cNvSpPr txBox="1"/>
          <p:nvPr/>
        </p:nvSpPr>
        <p:spPr>
          <a:xfrm>
            <a:off x="6903720" y="3886200"/>
            <a:ext cx="4114800" cy="640080"/>
          </a:xfrm>
          <a:prstGeom prst="rect">
            <a:avLst/>
          </a:prstGeom>
          <a:noFill/>
        </p:spPr>
        <p:txBody>
          <a:bodyPr wrap="square">
            <a:spAutoFit/>
          </a:bodyPr>
          <a:lstStyle/>
          <a:p>
            <a:pPr algn="ctr">
              <a:defRPr sz="1800" b="1">
                <a:solidFill>
                  <a:srgbClr val="317BC4"/>
                </a:solidFill>
                <a:latin typeface="Arial"/>
              </a:defRPr>
            </a:pPr>
            <a:r>
              <a:t>Java gives us the tools to create simple animation.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3. Tools Used in Java</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1</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4</a:t>
            </a:r>
          </a:p>
        </p:txBody>
      </p:sp>
      <p:sp>
        <p:nvSpPr>
          <p:cNvPr id="7" name="Rounded Rectangle 6"/>
          <p:cNvSpPr/>
          <p:nvPr/>
        </p:nvSpPr>
        <p:spPr>
          <a:xfrm>
            <a:off x="822960" y="1371600"/>
            <a:ext cx="3200400" cy="114300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536192"/>
            <a:ext cx="2834640" cy="292608"/>
          </a:xfrm>
          <a:prstGeom prst="rect">
            <a:avLst/>
          </a:prstGeom>
          <a:noFill/>
        </p:spPr>
        <p:txBody>
          <a:bodyPr wrap="square">
            <a:spAutoFit/>
          </a:bodyPr>
          <a:lstStyle/>
          <a:p>
            <a:pPr>
              <a:defRPr sz="1600" b="1">
                <a:solidFill>
                  <a:srgbClr val="14305C"/>
                </a:solidFill>
                <a:latin typeface="Arial"/>
              </a:defRPr>
            </a:pPr>
            <a:r>
              <a:t>AWT</a:t>
            </a:r>
          </a:p>
        </p:txBody>
      </p:sp>
      <p:sp>
        <p:nvSpPr>
          <p:cNvPr id="9" name="TextBox 8"/>
          <p:cNvSpPr txBox="1"/>
          <p:nvPr/>
        </p:nvSpPr>
        <p:spPr>
          <a:xfrm>
            <a:off x="1024128" y="1938528"/>
            <a:ext cx="2834640" cy="484632"/>
          </a:xfrm>
          <a:prstGeom prst="rect">
            <a:avLst/>
          </a:prstGeom>
          <a:noFill/>
        </p:spPr>
        <p:txBody>
          <a:bodyPr wrap="square">
            <a:spAutoFit/>
          </a:bodyPr>
          <a:lstStyle/>
          <a:p>
            <a:pPr>
              <a:defRPr sz="1400" b="0">
                <a:solidFill>
                  <a:srgbClr val="232D3C"/>
                </a:solidFill>
                <a:latin typeface="Arial"/>
              </a:defRPr>
            </a:pPr>
            <a:r>
              <a:t>Basic graphics and components</a:t>
            </a:r>
          </a:p>
        </p:txBody>
      </p:sp>
      <p:sp>
        <p:nvSpPr>
          <p:cNvPr id="10" name="Rounded Rectangle 9"/>
          <p:cNvSpPr/>
          <p:nvPr/>
        </p:nvSpPr>
        <p:spPr>
          <a:xfrm>
            <a:off x="4480560" y="1371600"/>
            <a:ext cx="3200400" cy="114300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8" y="1536192"/>
            <a:ext cx="2834640" cy="292608"/>
          </a:xfrm>
          <a:prstGeom prst="rect">
            <a:avLst/>
          </a:prstGeom>
          <a:noFill/>
        </p:spPr>
        <p:txBody>
          <a:bodyPr wrap="square">
            <a:spAutoFit/>
          </a:bodyPr>
          <a:lstStyle/>
          <a:p>
            <a:pPr>
              <a:defRPr sz="1600" b="1">
                <a:solidFill>
                  <a:srgbClr val="14305C"/>
                </a:solidFill>
                <a:latin typeface="Arial"/>
              </a:defRPr>
            </a:pPr>
            <a:r>
              <a:t>Swing</a:t>
            </a:r>
          </a:p>
        </p:txBody>
      </p:sp>
      <p:sp>
        <p:nvSpPr>
          <p:cNvPr id="12" name="TextBox 11"/>
          <p:cNvSpPr txBox="1"/>
          <p:nvPr/>
        </p:nvSpPr>
        <p:spPr>
          <a:xfrm>
            <a:off x="4681728" y="1938528"/>
            <a:ext cx="2834640" cy="484632"/>
          </a:xfrm>
          <a:prstGeom prst="rect">
            <a:avLst/>
          </a:prstGeom>
          <a:noFill/>
        </p:spPr>
        <p:txBody>
          <a:bodyPr wrap="square">
            <a:spAutoFit/>
          </a:bodyPr>
          <a:lstStyle/>
          <a:p>
            <a:pPr>
              <a:defRPr sz="1400" b="0">
                <a:solidFill>
                  <a:srgbClr val="232D3C"/>
                </a:solidFill>
                <a:latin typeface="Arial"/>
              </a:defRPr>
            </a:pPr>
            <a:r>
              <a:t>Used for desktop windows and buttons</a:t>
            </a:r>
          </a:p>
        </p:txBody>
      </p:sp>
      <p:sp>
        <p:nvSpPr>
          <p:cNvPr id="13" name="Rounded Rectangle 12"/>
          <p:cNvSpPr/>
          <p:nvPr/>
        </p:nvSpPr>
        <p:spPr>
          <a:xfrm>
            <a:off x="8138160" y="1371600"/>
            <a:ext cx="3200400" cy="114300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1536192"/>
            <a:ext cx="2834640" cy="292608"/>
          </a:xfrm>
          <a:prstGeom prst="rect">
            <a:avLst/>
          </a:prstGeom>
          <a:noFill/>
        </p:spPr>
        <p:txBody>
          <a:bodyPr wrap="square">
            <a:spAutoFit/>
          </a:bodyPr>
          <a:lstStyle/>
          <a:p>
            <a:pPr>
              <a:defRPr sz="1600" b="1">
                <a:solidFill>
                  <a:srgbClr val="14305C"/>
                </a:solidFill>
                <a:latin typeface="Arial"/>
              </a:defRPr>
            </a:pPr>
            <a:r>
              <a:t>JavaFX</a:t>
            </a:r>
          </a:p>
        </p:txBody>
      </p:sp>
      <p:sp>
        <p:nvSpPr>
          <p:cNvPr id="15" name="TextBox 14"/>
          <p:cNvSpPr txBox="1"/>
          <p:nvPr/>
        </p:nvSpPr>
        <p:spPr>
          <a:xfrm>
            <a:off x="8339328" y="1938528"/>
            <a:ext cx="2834640" cy="484632"/>
          </a:xfrm>
          <a:prstGeom prst="rect">
            <a:avLst/>
          </a:prstGeom>
          <a:noFill/>
        </p:spPr>
        <p:txBody>
          <a:bodyPr wrap="square">
            <a:spAutoFit/>
          </a:bodyPr>
          <a:lstStyle/>
          <a:p>
            <a:pPr>
              <a:defRPr sz="1400" b="0">
                <a:solidFill>
                  <a:srgbClr val="232D3C"/>
                </a:solidFill>
                <a:latin typeface="Arial"/>
              </a:defRPr>
            </a:pPr>
            <a:r>
              <a:t>Used for modern interfaces and graphics</a:t>
            </a:r>
          </a:p>
        </p:txBody>
      </p:sp>
      <p:sp>
        <p:nvSpPr>
          <p:cNvPr id="16" name="Rounded Rectangle 15"/>
          <p:cNvSpPr/>
          <p:nvPr/>
        </p:nvSpPr>
        <p:spPr>
          <a:xfrm>
            <a:off x="2651760" y="3154680"/>
            <a:ext cx="3200400" cy="114300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52928" y="3319272"/>
            <a:ext cx="2834640" cy="292608"/>
          </a:xfrm>
          <a:prstGeom prst="rect">
            <a:avLst/>
          </a:prstGeom>
          <a:noFill/>
        </p:spPr>
        <p:txBody>
          <a:bodyPr wrap="square">
            <a:spAutoFit/>
          </a:bodyPr>
          <a:lstStyle/>
          <a:p>
            <a:pPr>
              <a:defRPr sz="1600" b="1">
                <a:solidFill>
                  <a:srgbClr val="14305C"/>
                </a:solidFill>
                <a:latin typeface="Arial"/>
              </a:defRPr>
            </a:pPr>
            <a:r>
              <a:t>Graphics2D</a:t>
            </a:r>
          </a:p>
        </p:txBody>
      </p:sp>
      <p:sp>
        <p:nvSpPr>
          <p:cNvPr id="18" name="TextBox 17"/>
          <p:cNvSpPr txBox="1"/>
          <p:nvPr/>
        </p:nvSpPr>
        <p:spPr>
          <a:xfrm>
            <a:off x="2852928" y="3721608"/>
            <a:ext cx="2834640" cy="484632"/>
          </a:xfrm>
          <a:prstGeom prst="rect">
            <a:avLst/>
          </a:prstGeom>
          <a:noFill/>
        </p:spPr>
        <p:txBody>
          <a:bodyPr wrap="square">
            <a:spAutoFit/>
          </a:bodyPr>
          <a:lstStyle/>
          <a:p>
            <a:pPr>
              <a:defRPr sz="1400" b="0">
                <a:solidFill>
                  <a:srgbClr val="232D3C"/>
                </a:solidFill>
                <a:latin typeface="Arial"/>
              </a:defRPr>
            </a:pPr>
            <a:r>
              <a:t>Helps us draw shapes and make changes</a:t>
            </a:r>
          </a:p>
        </p:txBody>
      </p:sp>
      <p:sp>
        <p:nvSpPr>
          <p:cNvPr id="19" name="Rounded Rectangle 18"/>
          <p:cNvSpPr/>
          <p:nvPr/>
        </p:nvSpPr>
        <p:spPr>
          <a:xfrm>
            <a:off x="6309360" y="3154680"/>
            <a:ext cx="3200400" cy="1143000"/>
          </a:xfrm>
          <a:prstGeom prst="roundRect">
            <a:avLst/>
          </a:prstGeom>
          <a:solidFill>
            <a:srgbClr val="FFF7D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3319272"/>
            <a:ext cx="2834640" cy="292608"/>
          </a:xfrm>
          <a:prstGeom prst="rect">
            <a:avLst/>
          </a:prstGeom>
          <a:noFill/>
        </p:spPr>
        <p:txBody>
          <a:bodyPr wrap="square">
            <a:spAutoFit/>
          </a:bodyPr>
          <a:lstStyle/>
          <a:p>
            <a:pPr>
              <a:defRPr sz="1600" b="1">
                <a:solidFill>
                  <a:srgbClr val="14305C"/>
                </a:solidFill>
                <a:latin typeface="Arial"/>
              </a:defRPr>
            </a:pPr>
            <a:r>
              <a:t>Timer</a:t>
            </a:r>
          </a:p>
        </p:txBody>
      </p:sp>
      <p:sp>
        <p:nvSpPr>
          <p:cNvPr id="21" name="TextBox 20"/>
          <p:cNvSpPr txBox="1"/>
          <p:nvPr/>
        </p:nvSpPr>
        <p:spPr>
          <a:xfrm>
            <a:off x="6510528" y="3721608"/>
            <a:ext cx="2834640" cy="484632"/>
          </a:xfrm>
          <a:prstGeom prst="rect">
            <a:avLst/>
          </a:prstGeom>
          <a:noFill/>
        </p:spPr>
        <p:txBody>
          <a:bodyPr wrap="square">
            <a:spAutoFit/>
          </a:bodyPr>
          <a:lstStyle/>
          <a:p>
            <a:pPr>
              <a:defRPr sz="1400" b="0">
                <a:solidFill>
                  <a:srgbClr val="232D3C"/>
                </a:solidFill>
                <a:latin typeface="Arial"/>
              </a:defRPr>
            </a:pPr>
            <a:r>
              <a:t>Updates the animation again and again</a:t>
            </a:r>
          </a:p>
        </p:txBody>
      </p:sp>
      <p:sp>
        <p:nvSpPr>
          <p:cNvPr id="22" name="TextBox 21"/>
          <p:cNvSpPr txBox="1"/>
          <p:nvPr/>
        </p:nvSpPr>
        <p:spPr>
          <a:xfrm>
            <a:off x="1828800" y="5257800"/>
            <a:ext cx="8503920" cy="457200"/>
          </a:xfrm>
          <a:prstGeom prst="rect">
            <a:avLst/>
          </a:prstGeom>
          <a:noFill/>
        </p:spPr>
        <p:txBody>
          <a:bodyPr wrap="square">
            <a:spAutoFit/>
          </a:bodyPr>
          <a:lstStyle/>
          <a:p>
            <a:pPr algn="ctr">
              <a:defRPr sz="1900" b="1">
                <a:solidFill>
                  <a:srgbClr val="14305C"/>
                </a:solidFill>
                <a:latin typeface="Arial"/>
              </a:defRPr>
            </a:pPr>
            <a:r>
              <a:t>For our demo, we will use Swing, JPanel and Timer.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515151"/>
        </a:solidFill>
        <a:effectLst/>
      </p:bgPr>
    </p:bg>
    <p:spTree>
      <p:nvGrpSpPr>
        <p:cNvPr id="1" name="">
          <a:extLst>
            <a:ext uri="{FF2B5EF4-FFF2-40B4-BE49-F238E27FC236}">
              <a16:creationId xmlns:a16="http://schemas.microsoft.com/office/drawing/2014/main" id="{1BCDC8AD-2EB7-5A0A-5271-414470DC3D76}"/>
            </a:ext>
          </a:extLst>
        </p:cNvPr>
        <p:cNvGrpSpPr/>
        <p:nvPr/>
      </p:nvGrpSpPr>
      <p:grpSpPr>
        <a:xfrm>
          <a:off x="0" y="0"/>
          <a:ext cx="0" cy="0"/>
          <a:chOff x="0" y="0"/>
          <a:chExt cx="0" cy="0"/>
        </a:xfrm>
      </p:grpSpPr>
      <p:pic>
        <p:nvPicPr>
          <p:cNvPr id="23" name="Video Project">
            <a:hlinkClick r:id="" action="ppaction://media"/>
            <a:extLst>
              <a:ext uri="{FF2B5EF4-FFF2-40B4-BE49-F238E27FC236}">
                <a16:creationId xmlns:a16="http://schemas.microsoft.com/office/drawing/2014/main" id="{D65A2FA2-4A8C-14CF-9ED4-96B1AFADBB5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48734" y="423863"/>
            <a:ext cx="11167534" cy="5722938"/>
          </a:xfrm>
          <a:prstGeom prst="rect">
            <a:avLst/>
          </a:prstGeom>
          <a:effectLst>
            <a:softEdge rad="127000"/>
          </a:effectLst>
        </p:spPr>
      </p:pic>
    </p:spTree>
    <p:extLst>
      <p:ext uri="{BB962C8B-B14F-4D97-AF65-F5344CB8AC3E}">
        <p14:creationId xmlns:p14="http://schemas.microsoft.com/office/powerpoint/2010/main" val="178337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7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3"/>
                </p:tgtEl>
              </p:cMediaNode>
            </p:vide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D08F8D81-22B1-3BED-DCAD-28ABF02077BD}"/>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5FE3BA51-8424-CECA-F89E-D7BD26BDCE87}"/>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36C10571-3E32-F396-BC51-300021762C34}"/>
              </a:ext>
            </a:extLst>
          </p:cNvPr>
          <p:cNvSpPr txBox="1"/>
          <p:nvPr/>
        </p:nvSpPr>
        <p:spPr>
          <a:xfrm>
            <a:off x="184727" y="1351210"/>
            <a:ext cx="11693238" cy="5366084"/>
          </a:xfrm>
          <a:prstGeom prst="rect">
            <a:avLst/>
          </a:prstGeom>
          <a:noFill/>
        </p:spPr>
        <p:txBody>
          <a:bodyPr wrap="square" rtlCol="0">
            <a:spAutoFit/>
          </a:bodyPr>
          <a:lstStyle/>
          <a:p>
            <a:r>
              <a:rPr lang="en-IN" sz="1490" dirty="0">
                <a:latin typeface="Yu Gothic UI Semibold" panose="020B0700000000000000" pitchFamily="34" charset="-128"/>
                <a:ea typeface="Yu Gothic UI Semibold" panose="020B0700000000000000" pitchFamily="34" charset="-128"/>
              </a:rPr>
              <a:t>import </a:t>
            </a:r>
            <a:r>
              <a:rPr lang="en-IN" sz="1490" dirty="0" err="1">
                <a:latin typeface="Yu Gothic UI Semibold" panose="020B0700000000000000" pitchFamily="34" charset="-128"/>
                <a:ea typeface="Yu Gothic UI Semibold" panose="020B0700000000000000" pitchFamily="34" charset="-128"/>
              </a:rPr>
              <a:t>javax.swing</a:t>
            </a:r>
            <a:r>
              <a:rPr lang="en-IN" sz="1490" dirty="0">
                <a:latin typeface="Yu Gothic UI Semibold" panose="020B0700000000000000" pitchFamily="34" charset="-128"/>
                <a:ea typeface="Yu Gothic UI Semibold" panose="020B0700000000000000" pitchFamily="34" charset="-128"/>
              </a:rPr>
              <a:t>.*;</a:t>
            </a:r>
          </a:p>
          <a:p>
            <a:r>
              <a:rPr lang="en-IN" sz="1490" dirty="0">
                <a:latin typeface="Yu Gothic UI Semibold" panose="020B0700000000000000" pitchFamily="34" charset="-128"/>
                <a:ea typeface="Yu Gothic UI Semibold" panose="020B0700000000000000" pitchFamily="34" charset="-128"/>
              </a:rPr>
              <a:t>import </a:t>
            </a:r>
            <a:r>
              <a:rPr lang="en-IN" sz="1490" dirty="0" err="1">
                <a:latin typeface="Yu Gothic UI Semibold" panose="020B0700000000000000" pitchFamily="34" charset="-128"/>
                <a:ea typeface="Yu Gothic UI Semibold" panose="020B0700000000000000" pitchFamily="34" charset="-128"/>
              </a:rPr>
              <a:t>java.awt</a:t>
            </a:r>
            <a:r>
              <a:rPr lang="en-IN" sz="1490" dirty="0">
                <a:latin typeface="Yu Gothic UI Semibold" panose="020B0700000000000000" pitchFamily="34" charset="-128"/>
                <a:ea typeface="Yu Gothic UI Semibold" panose="020B0700000000000000" pitchFamily="34" charset="-128"/>
              </a:rPr>
              <a:t>.*;</a:t>
            </a:r>
          </a:p>
          <a:p>
            <a:r>
              <a:rPr lang="en-IN" sz="1490" dirty="0">
                <a:latin typeface="Yu Gothic UI Semibold" panose="020B0700000000000000" pitchFamily="34" charset="-128"/>
                <a:ea typeface="Yu Gothic UI Semibold" panose="020B0700000000000000" pitchFamily="34" charset="-128"/>
              </a:rPr>
              <a:t>import </a:t>
            </a:r>
            <a:r>
              <a:rPr lang="en-IN" sz="1490" dirty="0" err="1">
                <a:latin typeface="Yu Gothic UI Semibold" panose="020B0700000000000000" pitchFamily="34" charset="-128"/>
                <a:ea typeface="Yu Gothic UI Semibold" panose="020B0700000000000000" pitchFamily="34" charset="-128"/>
              </a:rPr>
              <a:t>java.awt.event</a:t>
            </a:r>
            <a:r>
              <a:rPr lang="en-IN" sz="1490" dirty="0">
                <a:latin typeface="Yu Gothic UI Semibold" panose="020B0700000000000000" pitchFamily="34" charset="-128"/>
                <a:ea typeface="Yu Gothic UI Semibold" panose="020B0700000000000000" pitchFamily="34" charset="-128"/>
              </a:rPr>
              <a:t>.*;</a:t>
            </a:r>
          </a:p>
          <a:p>
            <a:endParaRPr lang="en-IN" sz="1490" dirty="0">
              <a:latin typeface="Yu Gothic UI Semibold" panose="020B0700000000000000" pitchFamily="34" charset="-128"/>
              <a:ea typeface="Yu Gothic UI Semibold" panose="020B0700000000000000" pitchFamily="34" charset="-128"/>
            </a:endParaRPr>
          </a:p>
          <a:p>
            <a:r>
              <a:rPr lang="en-US" sz="1490" dirty="0">
                <a:latin typeface="Yu Gothic UI Semibold" panose="020B0700000000000000" pitchFamily="34" charset="-128"/>
                <a:ea typeface="Yu Gothic UI Semibold" panose="020B0700000000000000" pitchFamily="34" charset="-128"/>
              </a:rPr>
              <a:t>public class </a:t>
            </a:r>
            <a:r>
              <a:rPr lang="en-US" sz="1490" dirty="0" err="1">
                <a:latin typeface="Yu Gothic UI Semibold" panose="020B0700000000000000" pitchFamily="34" charset="-128"/>
                <a:ea typeface="Yu Gothic UI Semibold" panose="020B0700000000000000" pitchFamily="34" charset="-128"/>
              </a:rPr>
              <a:t>BallAnimation</a:t>
            </a:r>
            <a:r>
              <a:rPr lang="en-US" sz="1490" dirty="0">
                <a:latin typeface="Yu Gothic UI Semibold" panose="020B0700000000000000" pitchFamily="34" charset="-128"/>
                <a:ea typeface="Yu Gothic UI Semibold" panose="020B0700000000000000" pitchFamily="34" charset="-128"/>
              </a:rPr>
              <a:t> </a:t>
            </a:r>
          </a:p>
          <a:p>
            <a:r>
              <a:rPr lang="en-US" sz="1490" dirty="0">
                <a:latin typeface="Yu Gothic UI Semibold" panose="020B0700000000000000" pitchFamily="34" charset="-128"/>
                <a:ea typeface="Yu Gothic UI Semibold" panose="020B0700000000000000" pitchFamily="34" charset="-128"/>
              </a:rPr>
              <a:t>extends </a:t>
            </a:r>
            <a:r>
              <a:rPr lang="en-US" sz="1490" dirty="0" err="1">
                <a:latin typeface="Yu Gothic UI Semibold" panose="020B0700000000000000" pitchFamily="34" charset="-128"/>
                <a:ea typeface="Yu Gothic UI Semibold" panose="020B0700000000000000" pitchFamily="34" charset="-128"/>
              </a:rPr>
              <a:t>JPanel</a:t>
            </a:r>
            <a:r>
              <a:rPr lang="en-US" sz="1490" dirty="0">
                <a:latin typeface="Yu Gothic UI Semibold" panose="020B0700000000000000" pitchFamily="34" charset="-128"/>
                <a:ea typeface="Yu Gothic UI Semibold" panose="020B0700000000000000" pitchFamily="34" charset="-128"/>
              </a:rPr>
              <a:t>      </a:t>
            </a:r>
          </a:p>
          <a:p>
            <a:r>
              <a:rPr lang="en-US" sz="1490" dirty="0">
                <a:latin typeface="Yu Gothic UI Semibold" panose="020B0700000000000000" pitchFamily="34" charset="-128"/>
                <a:ea typeface="Yu Gothic UI Semibold" panose="020B0700000000000000" pitchFamily="34" charset="-128"/>
              </a:rPr>
              <a:t>           implements</a:t>
            </a:r>
          </a:p>
          <a:p>
            <a:r>
              <a:rPr lang="en-US" sz="1490" dirty="0">
                <a:latin typeface="Yu Gothic UI Semibold" panose="020B0700000000000000" pitchFamily="34" charset="-128"/>
                <a:ea typeface="Yu Gothic UI Semibold" panose="020B0700000000000000" pitchFamily="34" charset="-128"/>
              </a:rPr>
              <a:t> ActionListener {  </a:t>
            </a:r>
          </a:p>
          <a:p>
            <a:endParaRPr lang="en-US" sz="1490" dirty="0">
              <a:latin typeface="Yu Gothic UI Semibold" panose="020B0700000000000000" pitchFamily="34" charset="-128"/>
              <a:ea typeface="Yu Gothic UI Semibold" panose="020B0700000000000000" pitchFamily="34" charset="-128"/>
            </a:endParaRPr>
          </a:p>
          <a:p>
            <a:r>
              <a:rPr lang="en-US" sz="1490" dirty="0">
                <a:latin typeface="Yu Gothic UI Semibold" panose="020B0700000000000000" pitchFamily="34" charset="-128"/>
                <a:ea typeface="Yu Gothic UI Semibold" panose="020B0700000000000000" pitchFamily="34" charset="-128"/>
              </a:rPr>
              <a:t>  Timer </a:t>
            </a:r>
            <a:r>
              <a:rPr lang="en-US" sz="1490" dirty="0" err="1">
                <a:latin typeface="Yu Gothic UI Semibold" panose="020B0700000000000000" pitchFamily="34" charset="-128"/>
                <a:ea typeface="Yu Gothic UI Semibold" panose="020B0700000000000000" pitchFamily="34" charset="-128"/>
              </a:rPr>
              <a:t>timer</a:t>
            </a:r>
            <a:r>
              <a:rPr lang="en-US" sz="1490" dirty="0">
                <a:latin typeface="Yu Gothic UI Semibold" panose="020B0700000000000000" pitchFamily="34" charset="-128"/>
                <a:ea typeface="Yu Gothic UI Semibold" panose="020B0700000000000000" pitchFamily="34" charset="-128"/>
              </a:rPr>
              <a:t> = new Timer(40, this); </a:t>
            </a:r>
          </a:p>
          <a:p>
            <a:r>
              <a:rPr lang="en-US" sz="1490" dirty="0">
                <a:latin typeface="Yu Gothic UI Semibold" panose="020B0700000000000000" pitchFamily="34" charset="-128"/>
                <a:ea typeface="Yu Gothic UI Semibold" panose="020B0700000000000000" pitchFamily="34" charset="-128"/>
              </a:rPr>
              <a:t> </a:t>
            </a:r>
          </a:p>
          <a:p>
            <a:r>
              <a:rPr lang="en-US" sz="1490" dirty="0">
                <a:latin typeface="Yu Gothic UI Semibold" panose="020B0700000000000000" pitchFamily="34" charset="-128"/>
                <a:ea typeface="Yu Gothic UI Semibold" panose="020B0700000000000000" pitchFamily="34" charset="-128"/>
              </a:rPr>
              <a:t>  String name = "BALL ANIMATION";</a:t>
            </a:r>
          </a:p>
          <a:p>
            <a:r>
              <a:rPr lang="en-US" sz="1490" dirty="0">
                <a:latin typeface="Yu Gothic UI Semibold" panose="020B0700000000000000" pitchFamily="34" charset="-128"/>
                <a:ea typeface="Yu Gothic UI Semibold" panose="020B0700000000000000" pitchFamily="34" charset="-128"/>
              </a:rPr>
              <a:t>   </a:t>
            </a:r>
          </a:p>
          <a:p>
            <a:r>
              <a:rPr lang="en-US" sz="1490" dirty="0">
                <a:latin typeface="Yu Gothic UI Semibold" panose="020B0700000000000000" pitchFamily="34" charset="-128"/>
                <a:ea typeface="Yu Gothic UI Semibold" panose="020B0700000000000000" pitchFamily="34" charset="-128"/>
              </a:rPr>
              <a:t> int letters = 0;  </a:t>
            </a:r>
          </a:p>
          <a:p>
            <a:r>
              <a:rPr lang="en-US" sz="1490" dirty="0">
                <a:latin typeface="Yu Gothic UI Semibold" panose="020B0700000000000000" pitchFamily="34" charset="-128"/>
                <a:ea typeface="Yu Gothic UI Semibold" panose="020B0700000000000000" pitchFamily="34" charset="-128"/>
              </a:rPr>
              <a:t>  int x = 80;    </a:t>
            </a:r>
          </a:p>
          <a:p>
            <a:r>
              <a:rPr lang="en-US" sz="1490" dirty="0">
                <a:latin typeface="Yu Gothic UI Semibold" panose="020B0700000000000000" pitchFamily="34" charset="-128"/>
                <a:ea typeface="Yu Gothic UI Semibold" panose="020B0700000000000000" pitchFamily="34" charset="-128"/>
              </a:rPr>
              <a:t>int size = 40;   </a:t>
            </a:r>
          </a:p>
          <a:p>
            <a:r>
              <a:rPr lang="en-US" sz="1490" dirty="0">
                <a:latin typeface="Yu Gothic UI Semibold" panose="020B0700000000000000" pitchFamily="34" charset="-128"/>
                <a:ea typeface="Yu Gothic UI Semibold" panose="020B0700000000000000" pitchFamily="34" charset="-128"/>
              </a:rPr>
              <a:t> int step = 0;</a:t>
            </a:r>
          </a:p>
          <a:p>
            <a:r>
              <a:rPr lang="en-IN" sz="1490" dirty="0" err="1">
                <a:latin typeface="Yu Gothic UI Semibold" panose="020B0700000000000000" pitchFamily="34" charset="-128"/>
                <a:ea typeface="Yu Gothic UI Semibold" panose="020B0700000000000000" pitchFamily="34" charset="-128"/>
              </a:rPr>
              <a:t>Color</a:t>
            </a:r>
            <a:r>
              <a:rPr lang="en-IN" sz="1490" dirty="0">
                <a:latin typeface="Yu Gothic UI Semibold" panose="020B0700000000000000" pitchFamily="34" charset="-128"/>
                <a:ea typeface="Yu Gothic UI Semibold" panose="020B0700000000000000" pitchFamily="34" charset="-128"/>
              </a:rPr>
              <a:t> </a:t>
            </a:r>
            <a:r>
              <a:rPr lang="en-IN" sz="1490" dirty="0" err="1">
                <a:latin typeface="Yu Gothic UI Semibold" panose="020B0700000000000000" pitchFamily="34" charset="-128"/>
                <a:ea typeface="Yu Gothic UI Semibold" panose="020B0700000000000000" pitchFamily="34" charset="-128"/>
              </a:rPr>
              <a:t>ballColor</a:t>
            </a:r>
            <a:r>
              <a:rPr lang="en-IN" sz="1490" dirty="0">
                <a:latin typeface="Yu Gothic UI Semibold" panose="020B0700000000000000" pitchFamily="34" charset="-128"/>
                <a:ea typeface="Yu Gothic UI Semibold" panose="020B0700000000000000" pitchFamily="34" charset="-128"/>
              </a:rPr>
              <a:t> = </a:t>
            </a:r>
            <a:r>
              <a:rPr lang="en-IN" sz="1490" dirty="0" err="1">
                <a:latin typeface="Yu Gothic UI Semibold" panose="020B0700000000000000" pitchFamily="34" charset="-128"/>
                <a:ea typeface="Yu Gothic UI Semibold" panose="020B0700000000000000" pitchFamily="34" charset="-128"/>
              </a:rPr>
              <a:t>Color.BLUE</a:t>
            </a:r>
            <a:r>
              <a:rPr lang="en-IN" sz="1490" dirty="0">
                <a:latin typeface="Yu Gothic UI Semibold" panose="020B0700000000000000" pitchFamily="34" charset="-128"/>
                <a:ea typeface="Yu Gothic UI Semibold" panose="020B0700000000000000" pitchFamily="34" charset="-128"/>
              </a:rPr>
              <a:t>;  </a:t>
            </a:r>
          </a:p>
          <a:p>
            <a:r>
              <a:rPr lang="en-IN" sz="1490" dirty="0">
                <a:latin typeface="Yu Gothic UI Semibold" panose="020B0700000000000000" pitchFamily="34" charset="-128"/>
                <a:ea typeface="Yu Gothic UI Semibold" panose="020B0700000000000000" pitchFamily="34" charset="-128"/>
              </a:rPr>
              <a:t>// Name appears letter by letter  </a:t>
            </a:r>
          </a:p>
          <a:p>
            <a:r>
              <a:rPr lang="en-IN" sz="1490" dirty="0">
                <a:latin typeface="Yu Gothic UI Semibold" panose="020B0700000000000000" pitchFamily="34" charset="-128"/>
                <a:ea typeface="Yu Gothic UI Semibold" panose="020B0700000000000000" pitchFamily="34" charset="-128"/>
              </a:rPr>
              <a:t>  void </a:t>
            </a:r>
            <a:r>
              <a:rPr lang="en-IN" sz="1490" dirty="0" err="1">
                <a:latin typeface="Yu Gothic UI Semibold" panose="020B0700000000000000" pitchFamily="34" charset="-128"/>
                <a:ea typeface="Yu Gothic UI Semibold" panose="020B0700000000000000" pitchFamily="34" charset="-128"/>
              </a:rPr>
              <a:t>showName</a:t>
            </a:r>
            <a:r>
              <a:rPr lang="en-IN" sz="1490" dirty="0">
                <a:latin typeface="Yu Gothic UI Semibold" panose="020B0700000000000000" pitchFamily="34" charset="-128"/>
                <a:ea typeface="Yu Gothic UI Semibold" panose="020B0700000000000000" pitchFamily="34" charset="-128"/>
              </a:rPr>
              <a:t>(Graphics g) {      </a:t>
            </a:r>
          </a:p>
          <a:p>
            <a:r>
              <a:rPr lang="en-IN" sz="1490" dirty="0">
                <a:latin typeface="Yu Gothic UI Semibold" panose="020B0700000000000000" pitchFamily="34" charset="-128"/>
                <a:ea typeface="Yu Gothic UI Semibold" panose="020B0700000000000000" pitchFamily="34" charset="-128"/>
              </a:rPr>
              <a:t>  </a:t>
            </a:r>
            <a:r>
              <a:rPr lang="en-IN" sz="1490" dirty="0" err="1">
                <a:latin typeface="Yu Gothic UI Semibold" panose="020B0700000000000000" pitchFamily="34" charset="-128"/>
                <a:ea typeface="Yu Gothic UI Semibold" panose="020B0700000000000000" pitchFamily="34" charset="-128"/>
              </a:rPr>
              <a:t>g.setColor</a:t>
            </a:r>
            <a:r>
              <a:rPr lang="en-IN" sz="1490" dirty="0">
                <a:latin typeface="Yu Gothic UI Semibold" panose="020B0700000000000000" pitchFamily="34" charset="-128"/>
                <a:ea typeface="Yu Gothic UI Semibold" panose="020B0700000000000000" pitchFamily="34" charset="-128"/>
              </a:rPr>
              <a:t>(</a:t>
            </a:r>
            <a:r>
              <a:rPr lang="en-IN" sz="1490" dirty="0" err="1">
                <a:latin typeface="Yu Gothic UI Semibold" panose="020B0700000000000000" pitchFamily="34" charset="-128"/>
                <a:ea typeface="Yu Gothic UI Semibold" panose="020B0700000000000000" pitchFamily="34" charset="-128"/>
              </a:rPr>
              <a:t>Color.WHITE</a:t>
            </a:r>
            <a:r>
              <a:rPr lang="en-IN" sz="1490" dirty="0">
                <a:latin typeface="Yu Gothic UI Semibold" panose="020B0700000000000000" pitchFamily="34" charset="-128"/>
                <a:ea typeface="Yu Gothic UI Semibold" panose="020B0700000000000000" pitchFamily="34" charset="-128"/>
              </a:rPr>
              <a:t>);       </a:t>
            </a:r>
          </a:p>
          <a:p>
            <a:r>
              <a:rPr lang="en-IN" sz="1490" dirty="0">
                <a:latin typeface="Yu Gothic UI Semibold" panose="020B0700000000000000" pitchFamily="34" charset="-128"/>
                <a:ea typeface="Yu Gothic UI Semibold" panose="020B0700000000000000" pitchFamily="34" charset="-128"/>
              </a:rPr>
              <a:t> </a:t>
            </a:r>
            <a:r>
              <a:rPr lang="en-IN" sz="1490" dirty="0" err="1">
                <a:latin typeface="Yu Gothic UI Semibold" panose="020B0700000000000000" pitchFamily="34" charset="-128"/>
                <a:ea typeface="Yu Gothic UI Semibold" panose="020B0700000000000000" pitchFamily="34" charset="-128"/>
              </a:rPr>
              <a:t>g.setFont</a:t>
            </a:r>
            <a:r>
              <a:rPr lang="en-IN" sz="1490" dirty="0">
                <a:latin typeface="Yu Gothic UI Semibold" panose="020B0700000000000000" pitchFamily="34" charset="-128"/>
                <a:ea typeface="Yu Gothic UI Semibold" panose="020B0700000000000000" pitchFamily="34" charset="-128"/>
              </a:rPr>
              <a:t>(new Font("Arial", </a:t>
            </a:r>
            <a:r>
              <a:rPr lang="en-IN" sz="1490" dirty="0" err="1">
                <a:latin typeface="Yu Gothic UI Semibold" panose="020B0700000000000000" pitchFamily="34" charset="-128"/>
                <a:ea typeface="Yu Gothic UI Semibold" panose="020B0700000000000000" pitchFamily="34" charset="-128"/>
              </a:rPr>
              <a:t>Font.BOLD</a:t>
            </a:r>
            <a:r>
              <a:rPr lang="en-IN" sz="1490" dirty="0">
                <a:latin typeface="Yu Gothic UI Semibold" panose="020B0700000000000000" pitchFamily="34" charset="-128"/>
                <a:ea typeface="Yu Gothic UI Semibold" panose="020B0700000000000000" pitchFamily="34" charset="-128"/>
              </a:rPr>
              <a:t>, 60));    </a:t>
            </a:r>
          </a:p>
          <a:p>
            <a:r>
              <a:rPr lang="en-IN" sz="1490" dirty="0">
                <a:latin typeface="Yu Gothic UI Semibold" panose="020B0700000000000000" pitchFamily="34" charset="-128"/>
                <a:ea typeface="Yu Gothic UI Semibold" panose="020B0700000000000000" pitchFamily="34" charset="-128"/>
              </a:rPr>
              <a:t>    </a:t>
            </a:r>
            <a:r>
              <a:rPr lang="en-IN" sz="1490" dirty="0" err="1">
                <a:latin typeface="Yu Gothic UI Semibold" panose="020B0700000000000000" pitchFamily="34" charset="-128"/>
                <a:ea typeface="Yu Gothic UI Semibold" panose="020B0700000000000000" pitchFamily="34" charset="-128"/>
              </a:rPr>
              <a:t>g.drawString</a:t>
            </a:r>
            <a:r>
              <a:rPr lang="en-IN" sz="1490" dirty="0">
                <a:latin typeface="Yu Gothic UI Semibold" panose="020B0700000000000000" pitchFamily="34" charset="-128"/>
                <a:ea typeface="Yu Gothic UI Semibold" panose="020B0700000000000000" pitchFamily="34" charset="-128"/>
              </a:rPr>
              <a:t>(</a:t>
            </a:r>
            <a:r>
              <a:rPr lang="en-IN" sz="1490" dirty="0" err="1">
                <a:latin typeface="Yu Gothic UI Semibold" panose="020B0700000000000000" pitchFamily="34" charset="-128"/>
                <a:ea typeface="Yu Gothic UI Semibold" panose="020B0700000000000000" pitchFamily="34" charset="-128"/>
              </a:rPr>
              <a:t>name.substring</a:t>
            </a:r>
            <a:r>
              <a:rPr lang="en-IN" sz="1490" dirty="0">
                <a:latin typeface="Yu Gothic UI Semibold" panose="020B0700000000000000" pitchFamily="34" charset="-128"/>
                <a:ea typeface="Yu Gothic UI Semibold" panose="020B0700000000000000" pitchFamily="34" charset="-128"/>
              </a:rPr>
              <a:t>(0, letters), 250, 100);    </a:t>
            </a:r>
          </a:p>
        </p:txBody>
      </p:sp>
      <p:pic>
        <p:nvPicPr>
          <p:cNvPr id="33" name="Picture 32">
            <a:extLst>
              <a:ext uri="{FF2B5EF4-FFF2-40B4-BE49-F238E27FC236}">
                <a16:creationId xmlns:a16="http://schemas.microsoft.com/office/drawing/2014/main" id="{5AD7A19E-589C-46BD-B80F-32585AE378B4}"/>
              </a:ext>
            </a:extLst>
          </p:cNvPr>
          <p:cNvPicPr>
            <a:picLocks noChangeAspect="1"/>
          </p:cNvPicPr>
          <p:nvPr/>
        </p:nvPicPr>
        <p:blipFill>
          <a:blip r:embed="rId2"/>
          <a:stretch>
            <a:fillRect/>
          </a:stretch>
        </p:blipFill>
        <p:spPr>
          <a:xfrm>
            <a:off x="3971424" y="1351210"/>
            <a:ext cx="8028718" cy="4643190"/>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10BC7C-B0BB-AB75-AC0A-15A7FB5302E4}"/>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A4E8930E-EC5A-5797-9C21-D6429EFA2FDD}"/>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EE002EB4-706F-18DC-DD0D-133491E47218}"/>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FB0B9F9F-2C6D-7A63-FFA3-7BE5A3D56290}"/>
              </a:ext>
            </a:extLst>
          </p:cNvPr>
          <p:cNvSpPr txBox="1"/>
          <p:nvPr/>
        </p:nvSpPr>
        <p:spPr>
          <a:xfrm>
            <a:off x="184727" y="1351210"/>
            <a:ext cx="11693238" cy="4524315"/>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r>
              <a:rPr lang="en-US" sz="3200" dirty="0">
                <a:latin typeface="Yu Gothic UI Semibold" panose="020B0700000000000000" pitchFamily="34" charset="-128"/>
                <a:ea typeface="Yu Gothic UI Semibold" panose="020B0700000000000000" pitchFamily="34" charset="-128"/>
              </a:rPr>
              <a:t>// Ball moves from A to B   </a:t>
            </a:r>
          </a:p>
          <a:p>
            <a:r>
              <a:rPr lang="en-US" sz="3200" dirty="0">
                <a:latin typeface="Yu Gothic UI Semibold" panose="020B0700000000000000" pitchFamily="34" charset="-128"/>
                <a:ea typeface="Yu Gothic UI Semibold" panose="020B0700000000000000" pitchFamily="34" charset="-128"/>
              </a:rPr>
              <a:t> void </a:t>
            </a:r>
            <a:r>
              <a:rPr lang="en-US" sz="3200" dirty="0" err="1">
                <a:latin typeface="Yu Gothic UI Semibold" panose="020B0700000000000000" pitchFamily="34" charset="-128"/>
                <a:ea typeface="Yu Gothic UI Semibold" panose="020B0700000000000000" pitchFamily="34" charset="-128"/>
              </a:rPr>
              <a:t>moveBall</a:t>
            </a:r>
            <a:r>
              <a:rPr lang="en-US" sz="3200" dirty="0">
                <a:latin typeface="Yu Gothic UI Semibold" panose="020B0700000000000000" pitchFamily="34" charset="-128"/>
                <a:ea typeface="Yu Gothic UI Semibold" panose="020B0700000000000000" pitchFamily="34" charset="-128"/>
              </a:rPr>
              <a:t>() </a:t>
            </a:r>
          </a:p>
          <a:p>
            <a:r>
              <a:rPr lang="en-US" sz="3200" dirty="0">
                <a:latin typeface="Yu Gothic UI Semibold" panose="020B0700000000000000" pitchFamily="34" charset="-128"/>
                <a:ea typeface="Yu Gothic UI Semibold" panose="020B0700000000000000" pitchFamily="34" charset="-128"/>
              </a:rPr>
              <a:t>{      </a:t>
            </a:r>
          </a:p>
          <a:p>
            <a:r>
              <a:rPr lang="en-US" sz="3200" dirty="0">
                <a:latin typeface="Yu Gothic UI Semibold" panose="020B0700000000000000" pitchFamily="34" charset="-128"/>
                <a:ea typeface="Yu Gothic UI Semibold" panose="020B0700000000000000" pitchFamily="34" charset="-128"/>
              </a:rPr>
              <a:t>  x = x + 5;    </a:t>
            </a:r>
          </a:p>
          <a:p>
            <a:r>
              <a:rPr lang="en-US" sz="3200" dirty="0">
                <a:latin typeface="Yu Gothic UI Semibold" panose="020B0700000000000000" pitchFamily="34" charset="-128"/>
                <a:ea typeface="Yu Gothic UI Semibold" panose="020B0700000000000000" pitchFamily="34" charset="-128"/>
              </a:rPr>
              <a:t>    if (x &gt;= 550) {         </a:t>
            </a:r>
          </a:p>
          <a:p>
            <a:r>
              <a:rPr lang="en-US" sz="3200" dirty="0">
                <a:latin typeface="Yu Gothic UI Semibold" panose="020B0700000000000000" pitchFamily="34" charset="-128"/>
                <a:ea typeface="Yu Gothic UI Semibold" panose="020B0700000000000000" pitchFamily="34" charset="-128"/>
              </a:rPr>
              <a:t>   x = 550;         </a:t>
            </a:r>
          </a:p>
          <a:p>
            <a:r>
              <a:rPr lang="en-US" sz="3200" dirty="0">
                <a:latin typeface="Yu Gothic UI Semibold" panose="020B0700000000000000" pitchFamily="34" charset="-128"/>
                <a:ea typeface="Yu Gothic UI Semibold" panose="020B0700000000000000" pitchFamily="34" charset="-128"/>
              </a:rPr>
              <a:t>   step = 2;     </a:t>
            </a:r>
          </a:p>
          <a:p>
            <a:r>
              <a:rPr lang="en-US" sz="3200" dirty="0">
                <a:latin typeface="Yu Gothic UI Semibold" panose="020B0700000000000000" pitchFamily="34" charset="-128"/>
                <a:ea typeface="Yu Gothic UI Semibold" panose="020B0700000000000000" pitchFamily="34" charset="-128"/>
              </a:rPr>
              <a:t>   }  </a:t>
            </a:r>
          </a:p>
          <a:p>
            <a:r>
              <a:rPr lang="en-US" sz="3200" dirty="0">
                <a:latin typeface="Yu Gothic UI Semibold" panose="020B0700000000000000" pitchFamily="34" charset="-128"/>
                <a:ea typeface="Yu Gothic UI Semibold" panose="020B0700000000000000" pitchFamily="34" charset="-128"/>
              </a:rPr>
              <a:t>  }</a:t>
            </a:r>
            <a:endParaRPr lang="en-IN" sz="3200" dirty="0">
              <a:latin typeface="Yu Gothic UI Semibold" panose="020B0700000000000000" pitchFamily="34" charset="-128"/>
              <a:ea typeface="Yu Gothic UI Semibold" panose="020B0700000000000000" pitchFamily="34" charset="-128"/>
            </a:endParaRPr>
          </a:p>
        </p:txBody>
      </p:sp>
      <p:pic>
        <p:nvPicPr>
          <p:cNvPr id="7" name="Picture 6">
            <a:extLst>
              <a:ext uri="{FF2B5EF4-FFF2-40B4-BE49-F238E27FC236}">
                <a16:creationId xmlns:a16="http://schemas.microsoft.com/office/drawing/2014/main" id="{C2DF6D12-2647-543E-95FD-C851A10C97DC}"/>
              </a:ext>
            </a:extLst>
          </p:cNvPr>
          <p:cNvPicPr>
            <a:picLocks noChangeAspect="1"/>
          </p:cNvPicPr>
          <p:nvPr/>
        </p:nvPicPr>
        <p:blipFill>
          <a:blip r:embed="rId2"/>
          <a:stretch>
            <a:fillRect/>
          </a:stretch>
        </p:blipFill>
        <p:spPr>
          <a:xfrm>
            <a:off x="5118954" y="1996972"/>
            <a:ext cx="6592755" cy="35098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4068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9876781-73C5-2306-7CC0-0C4DBE2955A0}"/>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E78AC94D-5371-3E54-FDB3-7FDEC3FF66BC}"/>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04A13090-94E1-451A-3319-86A65A14259B}"/>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768FD5B9-347B-3EFF-6153-4D4A862EFF9B}"/>
              </a:ext>
            </a:extLst>
          </p:cNvPr>
          <p:cNvSpPr txBox="1"/>
          <p:nvPr/>
        </p:nvSpPr>
        <p:spPr>
          <a:xfrm>
            <a:off x="184727" y="1351210"/>
            <a:ext cx="11693238" cy="4154984"/>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r>
              <a:rPr lang="en-US" sz="2400" dirty="0">
                <a:latin typeface="Yu Gothic UI Semibold" panose="020B0700000000000000" pitchFamily="34" charset="-128"/>
                <a:ea typeface="Yu Gothic UI Semibold" panose="020B0700000000000000" pitchFamily="34" charset="-128"/>
              </a:rPr>
              <a:t>// Ball changes from blue to red    </a:t>
            </a:r>
          </a:p>
          <a:p>
            <a:r>
              <a:rPr lang="en-US" sz="2400" dirty="0">
                <a:latin typeface="Yu Gothic UI Semibold" panose="020B0700000000000000" pitchFamily="34" charset="-128"/>
                <a:ea typeface="Yu Gothic UI Semibold" panose="020B0700000000000000" pitchFamily="34" charset="-128"/>
              </a:rPr>
              <a:t>void </a:t>
            </a:r>
            <a:r>
              <a:rPr lang="en-US" sz="2400" dirty="0" err="1">
                <a:latin typeface="Yu Gothic UI Semibold" panose="020B0700000000000000" pitchFamily="34" charset="-128"/>
                <a:ea typeface="Yu Gothic UI Semibold" panose="020B0700000000000000" pitchFamily="34" charset="-128"/>
              </a:rPr>
              <a:t>changeColor</a:t>
            </a:r>
            <a:r>
              <a:rPr lang="en-US" sz="2400" dirty="0">
                <a:latin typeface="Yu Gothic UI Semibold" panose="020B0700000000000000" pitchFamily="34" charset="-128"/>
                <a:ea typeface="Yu Gothic UI Semibold" panose="020B0700000000000000" pitchFamily="34" charset="-128"/>
              </a:rPr>
              <a:t>() </a:t>
            </a:r>
          </a:p>
          <a:p>
            <a:r>
              <a:rPr lang="en-US" sz="2400" dirty="0">
                <a:latin typeface="Yu Gothic UI Semibold" panose="020B0700000000000000" pitchFamily="34" charset="-128"/>
                <a:ea typeface="Yu Gothic UI Semibold" panose="020B0700000000000000" pitchFamily="34" charset="-128"/>
              </a:rPr>
              <a:t>{       </a:t>
            </a:r>
          </a:p>
          <a:p>
            <a:r>
              <a:rPr lang="en-US" sz="2400" dirty="0">
                <a:latin typeface="Yu Gothic UI Semibold" panose="020B0700000000000000" pitchFamily="34" charset="-128"/>
                <a:ea typeface="Yu Gothic UI Semibold" panose="020B0700000000000000" pitchFamily="34" charset="-128"/>
              </a:rPr>
              <a:t> int red = </a:t>
            </a:r>
            <a:r>
              <a:rPr lang="en-US" sz="2400" dirty="0" err="1">
                <a:latin typeface="Yu Gothic UI Semibold" panose="020B0700000000000000" pitchFamily="34" charset="-128"/>
                <a:ea typeface="Yu Gothic UI Semibold" panose="020B0700000000000000" pitchFamily="34" charset="-128"/>
              </a:rPr>
              <a:t>ballColor.getRed</a:t>
            </a:r>
            <a:r>
              <a:rPr lang="en-US" sz="2400" dirty="0">
                <a:latin typeface="Yu Gothic UI Semibold" panose="020B0700000000000000" pitchFamily="34" charset="-128"/>
                <a:ea typeface="Yu Gothic UI Semibold" panose="020B0700000000000000" pitchFamily="34" charset="-128"/>
              </a:rPr>
              <a:t>() + 5;       </a:t>
            </a:r>
          </a:p>
          <a:p>
            <a:r>
              <a:rPr lang="en-US" sz="2400" dirty="0">
                <a:latin typeface="Yu Gothic UI Semibold" panose="020B0700000000000000" pitchFamily="34" charset="-128"/>
                <a:ea typeface="Yu Gothic UI Semibold" panose="020B0700000000000000" pitchFamily="34" charset="-128"/>
              </a:rPr>
              <a:t> if (red &gt;= 255) </a:t>
            </a:r>
          </a:p>
          <a:p>
            <a:r>
              <a:rPr lang="en-US" sz="2400" dirty="0">
                <a:latin typeface="Yu Gothic UI Semibold" panose="020B0700000000000000" pitchFamily="34" charset="-128"/>
                <a:ea typeface="Yu Gothic UI Semibold" panose="020B0700000000000000" pitchFamily="34" charset="-128"/>
              </a:rPr>
              <a:t>{           </a:t>
            </a:r>
          </a:p>
          <a:p>
            <a:r>
              <a:rPr lang="en-US" sz="2400" dirty="0">
                <a:latin typeface="Yu Gothic UI Semibold" panose="020B0700000000000000" pitchFamily="34" charset="-128"/>
                <a:ea typeface="Yu Gothic UI Semibold" panose="020B0700000000000000" pitchFamily="34" charset="-128"/>
              </a:rPr>
              <a:t> red = 255;          </a:t>
            </a:r>
          </a:p>
          <a:p>
            <a:r>
              <a:rPr lang="en-US" sz="2400" dirty="0">
                <a:latin typeface="Yu Gothic UI Semibold" panose="020B0700000000000000" pitchFamily="34" charset="-128"/>
                <a:ea typeface="Yu Gothic UI Semibold" panose="020B0700000000000000" pitchFamily="34" charset="-128"/>
              </a:rPr>
              <a:t>  step = 3;       </a:t>
            </a:r>
          </a:p>
          <a:p>
            <a:r>
              <a:rPr lang="en-US" sz="2400" dirty="0">
                <a:latin typeface="Yu Gothic UI Semibold" panose="020B0700000000000000" pitchFamily="34" charset="-128"/>
                <a:ea typeface="Yu Gothic UI Semibold" panose="020B0700000000000000" pitchFamily="34" charset="-128"/>
              </a:rPr>
              <a:t> }       </a:t>
            </a: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ballColor</a:t>
            </a:r>
            <a:r>
              <a:rPr lang="en-US" sz="2400" dirty="0">
                <a:latin typeface="Yu Gothic UI Semibold" panose="020B0700000000000000" pitchFamily="34" charset="-128"/>
                <a:ea typeface="Yu Gothic UI Semibold" panose="020B0700000000000000" pitchFamily="34" charset="-128"/>
              </a:rPr>
              <a:t> = new Color(red, 0, 255 - red); </a:t>
            </a:r>
          </a:p>
          <a:p>
            <a:r>
              <a:rPr lang="en-US" sz="2400" dirty="0">
                <a:latin typeface="Yu Gothic UI Semibold" panose="020B0700000000000000" pitchFamily="34" charset="-128"/>
                <a:ea typeface="Yu Gothic UI Semibold" panose="020B0700000000000000" pitchFamily="34" charset="-128"/>
              </a:rPr>
              <a:t>   }</a:t>
            </a:r>
            <a:endParaRPr lang="en-IN" sz="2400" dirty="0">
              <a:latin typeface="Yu Gothic UI Semibold" panose="020B0700000000000000" pitchFamily="34" charset="-128"/>
              <a:ea typeface="Yu Gothic UI Semibold" panose="020B0700000000000000" pitchFamily="34" charset="-128"/>
            </a:endParaRPr>
          </a:p>
        </p:txBody>
      </p:sp>
      <p:pic>
        <p:nvPicPr>
          <p:cNvPr id="3" name="Picture 2">
            <a:extLst>
              <a:ext uri="{FF2B5EF4-FFF2-40B4-BE49-F238E27FC236}">
                <a16:creationId xmlns:a16="http://schemas.microsoft.com/office/drawing/2014/main" id="{1523259D-2DFF-FBE8-6585-B88AECAE9842}"/>
              </a:ext>
            </a:extLst>
          </p:cNvPr>
          <p:cNvPicPr>
            <a:picLocks noChangeAspect="1"/>
          </p:cNvPicPr>
          <p:nvPr/>
        </p:nvPicPr>
        <p:blipFill>
          <a:blip r:embed="rId2"/>
          <a:stretch>
            <a:fillRect/>
          </a:stretch>
        </p:blipFill>
        <p:spPr>
          <a:xfrm>
            <a:off x="6289963" y="1720542"/>
            <a:ext cx="4144540" cy="39279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65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7A6C91B-0CC2-F7A2-5BCD-541FEFFC7F56}"/>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F6F5A6C8-BD8E-291B-25A8-AE0DD27A260A}"/>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91D9F3E1-D169-4F22-41F1-28527A3F55A0}"/>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8354C1F3-7853-E62E-C66E-A89CBEDB09CC}"/>
              </a:ext>
            </a:extLst>
          </p:cNvPr>
          <p:cNvSpPr txBox="1"/>
          <p:nvPr/>
        </p:nvSpPr>
        <p:spPr>
          <a:xfrm>
            <a:off x="184727" y="1351210"/>
            <a:ext cx="11693238" cy="321627"/>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endParaRPr lang="en-IN" sz="2400" dirty="0">
              <a:latin typeface="Yu Gothic UI Semibold" panose="020B0700000000000000" pitchFamily="34" charset="-128"/>
              <a:ea typeface="Yu Gothic UI Semibold" panose="020B0700000000000000" pitchFamily="34" charset="-128"/>
            </a:endParaRPr>
          </a:p>
        </p:txBody>
      </p:sp>
      <p:sp>
        <p:nvSpPr>
          <p:cNvPr id="3" name="TextBox 2">
            <a:extLst>
              <a:ext uri="{FF2B5EF4-FFF2-40B4-BE49-F238E27FC236}">
                <a16:creationId xmlns:a16="http://schemas.microsoft.com/office/drawing/2014/main" id="{89DD9E78-E2B4-313C-89E9-F17E98C47C05}"/>
              </a:ext>
            </a:extLst>
          </p:cNvPr>
          <p:cNvSpPr txBox="1"/>
          <p:nvPr/>
        </p:nvSpPr>
        <p:spPr>
          <a:xfrm>
            <a:off x="350983" y="1672837"/>
            <a:ext cx="11526982" cy="3785652"/>
          </a:xfrm>
          <a:prstGeom prst="rect">
            <a:avLst/>
          </a:prstGeom>
          <a:noFill/>
        </p:spPr>
        <p:txBody>
          <a:bodyPr wrap="square" rtlCol="0">
            <a:spAutoFit/>
          </a:bodyPr>
          <a:lstStyle/>
          <a:p>
            <a:r>
              <a:rPr lang="en-US" sz="2000" dirty="0">
                <a:latin typeface="Yu Gothic UI Semibold" panose="020B0700000000000000" pitchFamily="34" charset="-128"/>
                <a:ea typeface="Yu Gothic UI Semibold" panose="020B0700000000000000" pitchFamily="34" charset="-128"/>
              </a:rPr>
              <a:t>// Ball grows bigger  </a:t>
            </a:r>
          </a:p>
          <a:p>
            <a:endParaRPr lang="en-US" sz="2000" dirty="0">
              <a:latin typeface="Yu Gothic UI Semibold" panose="020B0700000000000000" pitchFamily="34" charset="-128"/>
              <a:ea typeface="Yu Gothic UI Semibold" panose="020B0700000000000000" pitchFamily="34" charset="-128"/>
            </a:endParaRPr>
          </a:p>
          <a:p>
            <a:endParaRPr lang="en-US" sz="2000" dirty="0">
              <a:latin typeface="Yu Gothic UI Semibold" panose="020B0700000000000000" pitchFamily="34" charset="-128"/>
              <a:ea typeface="Yu Gothic UI Semibold" panose="020B0700000000000000" pitchFamily="34" charset="-128"/>
            </a:endParaRPr>
          </a:p>
          <a:p>
            <a:r>
              <a:rPr lang="en-US" sz="2000" dirty="0">
                <a:latin typeface="Yu Gothic UI Semibold" panose="020B0700000000000000" pitchFamily="34" charset="-128"/>
                <a:ea typeface="Yu Gothic UI Semibold" panose="020B0700000000000000" pitchFamily="34" charset="-128"/>
              </a:rPr>
              <a:t>  void </a:t>
            </a:r>
            <a:r>
              <a:rPr lang="en-US" sz="2000" dirty="0" err="1">
                <a:latin typeface="Yu Gothic UI Semibold" panose="020B0700000000000000" pitchFamily="34" charset="-128"/>
                <a:ea typeface="Yu Gothic UI Semibold" panose="020B0700000000000000" pitchFamily="34" charset="-128"/>
              </a:rPr>
              <a:t>changeSize</a:t>
            </a:r>
            <a:r>
              <a:rPr lang="en-US" sz="2000" dirty="0">
                <a:latin typeface="Yu Gothic UI Semibold" panose="020B0700000000000000" pitchFamily="34" charset="-128"/>
                <a:ea typeface="Yu Gothic UI Semibold" panose="020B0700000000000000" pitchFamily="34" charset="-128"/>
              </a:rPr>
              <a:t>()</a:t>
            </a:r>
          </a:p>
          <a:p>
            <a:endParaRPr lang="en-US" sz="2000" dirty="0">
              <a:latin typeface="Yu Gothic UI Semibold" panose="020B0700000000000000" pitchFamily="34" charset="-128"/>
              <a:ea typeface="Yu Gothic UI Semibold" panose="020B0700000000000000" pitchFamily="34" charset="-128"/>
            </a:endParaRPr>
          </a:p>
          <a:p>
            <a:r>
              <a:rPr lang="en-US" sz="2000" dirty="0">
                <a:latin typeface="Yu Gothic UI Semibold" panose="020B0700000000000000" pitchFamily="34" charset="-128"/>
                <a:ea typeface="Yu Gothic UI Semibold" panose="020B0700000000000000" pitchFamily="34" charset="-128"/>
              </a:rPr>
              <a:t> {       </a:t>
            </a:r>
          </a:p>
          <a:p>
            <a:r>
              <a:rPr lang="en-US" sz="2000" dirty="0">
                <a:latin typeface="Yu Gothic UI Semibold" panose="020B0700000000000000" pitchFamily="34" charset="-128"/>
                <a:ea typeface="Yu Gothic UI Semibold" panose="020B0700000000000000" pitchFamily="34" charset="-128"/>
              </a:rPr>
              <a:t> size = size + 2;   </a:t>
            </a:r>
          </a:p>
          <a:p>
            <a:r>
              <a:rPr lang="en-US" sz="2000" dirty="0">
                <a:latin typeface="Yu Gothic UI Semibold" panose="020B0700000000000000" pitchFamily="34" charset="-128"/>
                <a:ea typeface="Yu Gothic UI Semibold" panose="020B0700000000000000" pitchFamily="34" charset="-128"/>
              </a:rPr>
              <a:t>     if (size &gt;= 120) </a:t>
            </a:r>
          </a:p>
          <a:p>
            <a:r>
              <a:rPr lang="en-US" sz="2000" dirty="0">
                <a:latin typeface="Yu Gothic UI Semibold" panose="020B0700000000000000" pitchFamily="34" charset="-128"/>
                <a:ea typeface="Yu Gothic UI Semibold" panose="020B0700000000000000" pitchFamily="34" charset="-128"/>
              </a:rPr>
              <a:t>{            </a:t>
            </a:r>
          </a:p>
          <a:p>
            <a:r>
              <a:rPr lang="en-US" sz="2000" dirty="0" err="1">
                <a:latin typeface="Yu Gothic UI Semibold" panose="020B0700000000000000" pitchFamily="34" charset="-128"/>
                <a:ea typeface="Yu Gothic UI Semibold" panose="020B0700000000000000" pitchFamily="34" charset="-128"/>
              </a:rPr>
              <a:t>timer.stop</a:t>
            </a:r>
            <a:r>
              <a:rPr lang="en-US" sz="2000" dirty="0">
                <a:latin typeface="Yu Gothic UI Semibold" panose="020B0700000000000000" pitchFamily="34" charset="-128"/>
                <a:ea typeface="Yu Gothic UI Semibold" panose="020B0700000000000000" pitchFamily="34" charset="-128"/>
              </a:rPr>
              <a:t>();   </a:t>
            </a:r>
          </a:p>
          <a:p>
            <a:r>
              <a:rPr lang="en-US" sz="2000" dirty="0">
                <a:latin typeface="Yu Gothic UI Semibold" panose="020B0700000000000000" pitchFamily="34" charset="-128"/>
                <a:ea typeface="Yu Gothic UI Semibold" panose="020B0700000000000000" pitchFamily="34" charset="-128"/>
              </a:rPr>
              <a:t>     }  </a:t>
            </a:r>
          </a:p>
          <a:p>
            <a:r>
              <a:rPr lang="en-US" sz="2000" dirty="0">
                <a:latin typeface="Yu Gothic UI Semibold" panose="020B0700000000000000" pitchFamily="34" charset="-128"/>
                <a:ea typeface="Yu Gothic UI Semibold" panose="020B0700000000000000" pitchFamily="34" charset="-128"/>
              </a:rPr>
              <a:t>  }</a:t>
            </a:r>
            <a:endParaRPr lang="en-IN" sz="2000" dirty="0">
              <a:latin typeface="Yu Gothic UI Semibold" panose="020B0700000000000000" pitchFamily="34" charset="-128"/>
              <a:ea typeface="Yu Gothic UI Semibold" panose="020B0700000000000000" pitchFamily="34" charset="-128"/>
            </a:endParaRPr>
          </a:p>
        </p:txBody>
      </p:sp>
      <p:pic>
        <p:nvPicPr>
          <p:cNvPr id="5" name="Picture 4">
            <a:extLst>
              <a:ext uri="{FF2B5EF4-FFF2-40B4-BE49-F238E27FC236}">
                <a16:creationId xmlns:a16="http://schemas.microsoft.com/office/drawing/2014/main" id="{F1904459-C8B6-CA28-B731-D9FBFFA81F86}"/>
              </a:ext>
            </a:extLst>
          </p:cNvPr>
          <p:cNvPicPr>
            <a:picLocks noChangeAspect="1"/>
          </p:cNvPicPr>
          <p:nvPr/>
        </p:nvPicPr>
        <p:blipFill>
          <a:blip r:embed="rId2"/>
          <a:stretch>
            <a:fillRect/>
          </a:stretch>
        </p:blipFill>
        <p:spPr>
          <a:xfrm>
            <a:off x="3759200" y="1525818"/>
            <a:ext cx="7382019" cy="2039845"/>
          </a:xfrm>
          <a:prstGeom prst="rect">
            <a:avLst/>
          </a:prstGeom>
        </p:spPr>
      </p:pic>
      <p:pic>
        <p:nvPicPr>
          <p:cNvPr id="7" name="Picture 6">
            <a:extLst>
              <a:ext uri="{FF2B5EF4-FFF2-40B4-BE49-F238E27FC236}">
                <a16:creationId xmlns:a16="http://schemas.microsoft.com/office/drawing/2014/main" id="{D26D9F74-735A-09FD-3490-122C34EEAC0C}"/>
              </a:ext>
            </a:extLst>
          </p:cNvPr>
          <p:cNvPicPr>
            <a:picLocks noChangeAspect="1"/>
          </p:cNvPicPr>
          <p:nvPr/>
        </p:nvPicPr>
        <p:blipFill>
          <a:blip r:embed="rId3"/>
          <a:stretch>
            <a:fillRect/>
          </a:stretch>
        </p:blipFill>
        <p:spPr>
          <a:xfrm>
            <a:off x="3447473" y="3712682"/>
            <a:ext cx="8264236" cy="2863715"/>
          </a:xfrm>
          <a:prstGeom prst="rect">
            <a:avLst/>
          </a:prstGeom>
        </p:spPr>
      </p:pic>
    </p:spTree>
    <p:extLst>
      <p:ext uri="{BB962C8B-B14F-4D97-AF65-F5344CB8AC3E}">
        <p14:creationId xmlns:p14="http://schemas.microsoft.com/office/powerpoint/2010/main" val="2426568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ECAF0D-F161-00E7-C388-08E3B5CAB8BB}"/>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BBABFA21-0957-3FD6-A0E9-502BAA125A6F}"/>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C44597DC-660C-EC9D-3CAD-B17405915AFC}"/>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4AFD0726-9BA0-92FE-DD56-5196FF466909}"/>
              </a:ext>
            </a:extLst>
          </p:cNvPr>
          <p:cNvSpPr txBox="1"/>
          <p:nvPr/>
        </p:nvSpPr>
        <p:spPr>
          <a:xfrm>
            <a:off x="184727" y="1351210"/>
            <a:ext cx="11693238" cy="321627"/>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endParaRPr lang="en-IN" sz="2400" dirty="0">
              <a:latin typeface="Yu Gothic UI Semibold" panose="020B0700000000000000" pitchFamily="34" charset="-128"/>
              <a:ea typeface="Yu Gothic UI Semibold" panose="020B0700000000000000" pitchFamily="34" charset="-128"/>
            </a:endParaRPr>
          </a:p>
        </p:txBody>
      </p:sp>
      <p:sp>
        <p:nvSpPr>
          <p:cNvPr id="3" name="TextBox 2">
            <a:extLst>
              <a:ext uri="{FF2B5EF4-FFF2-40B4-BE49-F238E27FC236}">
                <a16:creationId xmlns:a16="http://schemas.microsoft.com/office/drawing/2014/main" id="{4E010AEA-F16D-BE71-3631-B907D6425681}"/>
              </a:ext>
            </a:extLst>
          </p:cNvPr>
          <p:cNvSpPr txBox="1"/>
          <p:nvPr/>
        </p:nvSpPr>
        <p:spPr>
          <a:xfrm>
            <a:off x="350984" y="1382585"/>
            <a:ext cx="11526982" cy="5509200"/>
          </a:xfrm>
          <a:prstGeom prst="rect">
            <a:avLst/>
          </a:prstGeom>
          <a:noFill/>
        </p:spPr>
        <p:txBody>
          <a:bodyPr wrap="square" rtlCol="0">
            <a:spAutoFit/>
          </a:bodyPr>
          <a:lstStyle/>
          <a:p>
            <a:r>
              <a:rPr lang="en-US" sz="1600" dirty="0">
                <a:latin typeface="Yu Gothic UI Semibold" panose="020B0700000000000000" pitchFamily="34" charset="-128"/>
                <a:ea typeface="Yu Gothic UI Semibold" panose="020B0700000000000000" pitchFamily="34" charset="-128"/>
              </a:rPr>
              <a:t> public </a:t>
            </a:r>
            <a:r>
              <a:rPr lang="en-US" sz="1600" dirty="0" err="1">
                <a:latin typeface="Yu Gothic UI Semibold" panose="020B0700000000000000" pitchFamily="34" charset="-128"/>
                <a:ea typeface="Yu Gothic UI Semibold" panose="020B0700000000000000" pitchFamily="34" charset="-128"/>
              </a:rPr>
              <a:t>BallAnimation</a:t>
            </a:r>
            <a:r>
              <a:rPr lang="en-US" sz="1600" dirty="0">
                <a:latin typeface="Yu Gothic UI Semibold" panose="020B0700000000000000" pitchFamily="34" charset="-128"/>
                <a:ea typeface="Yu Gothic UI Semibold" panose="020B0700000000000000" pitchFamily="34" charset="-128"/>
              </a:rPr>
              <a:t>()</a:t>
            </a:r>
          </a:p>
          <a:p>
            <a:r>
              <a:rPr lang="en-US" sz="1600" dirty="0">
                <a:latin typeface="Yu Gothic UI Semibold" panose="020B0700000000000000" pitchFamily="34" charset="-128"/>
                <a:ea typeface="Yu Gothic UI Semibold" panose="020B0700000000000000" pitchFamily="34" charset="-128"/>
              </a:rPr>
              <a:t> {        </a:t>
            </a:r>
            <a:r>
              <a:rPr lang="en-US" sz="1600" dirty="0" err="1">
                <a:latin typeface="Yu Gothic UI Semibold" panose="020B0700000000000000" pitchFamily="34" charset="-128"/>
                <a:ea typeface="Yu Gothic UI Semibold" panose="020B0700000000000000" pitchFamily="34" charset="-128"/>
              </a:rPr>
              <a:t>setBackground</a:t>
            </a:r>
            <a:r>
              <a:rPr lang="en-US" sz="1600" dirty="0">
                <a:latin typeface="Yu Gothic UI Semibold" panose="020B0700000000000000" pitchFamily="34" charset="-128"/>
                <a:ea typeface="Yu Gothic UI Semibold" panose="020B0700000000000000" pitchFamily="34" charset="-128"/>
              </a:rPr>
              <a:t>(</a:t>
            </a:r>
            <a:r>
              <a:rPr lang="en-US" sz="1600" dirty="0" err="1">
                <a:latin typeface="Yu Gothic UI Semibold" panose="020B0700000000000000" pitchFamily="34" charset="-128"/>
                <a:ea typeface="Yu Gothic UI Semibold" panose="020B0700000000000000" pitchFamily="34" charset="-128"/>
              </a:rPr>
              <a:t>Color.BLACK</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a:t>
            </a:r>
            <a:r>
              <a:rPr lang="en-US" sz="1600" dirty="0" err="1">
                <a:latin typeface="Yu Gothic UI Semibold" panose="020B0700000000000000" pitchFamily="34" charset="-128"/>
                <a:ea typeface="Yu Gothic UI Semibold" panose="020B0700000000000000" pitchFamily="34" charset="-128"/>
              </a:rPr>
              <a:t>timer.start</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 public void </a:t>
            </a:r>
            <a:r>
              <a:rPr lang="en-US" sz="1600" dirty="0" err="1">
                <a:latin typeface="Yu Gothic UI Semibold" panose="020B0700000000000000" pitchFamily="34" charset="-128"/>
                <a:ea typeface="Yu Gothic UI Semibold" panose="020B0700000000000000" pitchFamily="34" charset="-128"/>
              </a:rPr>
              <a:t>actionPerformed</a:t>
            </a:r>
            <a:r>
              <a:rPr lang="en-US" sz="1600" dirty="0">
                <a:latin typeface="Yu Gothic UI Semibold" panose="020B0700000000000000" pitchFamily="34" charset="-128"/>
                <a:ea typeface="Yu Gothic UI Semibold" panose="020B0700000000000000" pitchFamily="34" charset="-128"/>
              </a:rPr>
              <a:t>(</a:t>
            </a:r>
            <a:r>
              <a:rPr lang="en-US" sz="1600" dirty="0" err="1">
                <a:latin typeface="Yu Gothic UI Semibold" panose="020B0700000000000000" pitchFamily="34" charset="-128"/>
                <a:ea typeface="Yu Gothic UI Semibold" panose="020B0700000000000000" pitchFamily="34" charset="-128"/>
              </a:rPr>
              <a:t>ActionEvent</a:t>
            </a:r>
            <a:r>
              <a:rPr lang="en-US" sz="1600" dirty="0">
                <a:latin typeface="Yu Gothic UI Semibold" panose="020B0700000000000000" pitchFamily="34" charset="-128"/>
                <a:ea typeface="Yu Gothic UI Semibold" panose="020B0700000000000000" pitchFamily="34" charset="-128"/>
              </a:rPr>
              <a:t> e) {  </a:t>
            </a:r>
          </a:p>
          <a:p>
            <a:r>
              <a:rPr lang="en-US" sz="1600" dirty="0">
                <a:latin typeface="Yu Gothic UI Semibold" panose="020B0700000000000000" pitchFamily="34" charset="-128"/>
                <a:ea typeface="Yu Gothic UI Semibold" panose="020B0700000000000000" pitchFamily="34" charset="-128"/>
              </a:rPr>
              <a:t>      if (step == 0) {    </a:t>
            </a:r>
          </a:p>
          <a:p>
            <a:r>
              <a:rPr lang="en-US" sz="1600" dirty="0">
                <a:latin typeface="Yu Gothic UI Semibold" panose="020B0700000000000000" pitchFamily="34" charset="-128"/>
                <a:ea typeface="Yu Gothic UI Semibold" panose="020B0700000000000000" pitchFamily="34" charset="-128"/>
              </a:rPr>
              <a:t>        letters++;</a:t>
            </a:r>
          </a:p>
          <a:p>
            <a:r>
              <a:rPr lang="en-US" sz="1600" dirty="0">
                <a:latin typeface="Yu Gothic UI Semibold" panose="020B0700000000000000" pitchFamily="34" charset="-128"/>
                <a:ea typeface="Yu Gothic UI Semibold" panose="020B0700000000000000" pitchFamily="34" charset="-128"/>
              </a:rPr>
              <a:t>            if (letters &gt; </a:t>
            </a:r>
            <a:r>
              <a:rPr lang="en-US" sz="1600" dirty="0" err="1">
                <a:latin typeface="Yu Gothic UI Semibold" panose="020B0700000000000000" pitchFamily="34" charset="-128"/>
                <a:ea typeface="Yu Gothic UI Semibold" panose="020B0700000000000000" pitchFamily="34" charset="-128"/>
              </a:rPr>
              <a:t>name.length</a:t>
            </a:r>
            <a:r>
              <a:rPr lang="en-US" sz="1600" dirty="0">
                <a:latin typeface="Yu Gothic UI Semibold" panose="020B0700000000000000" pitchFamily="34" charset="-128"/>
                <a:ea typeface="Yu Gothic UI Semibold" panose="020B0700000000000000" pitchFamily="34" charset="-128"/>
              </a:rPr>
              <a:t>())</a:t>
            </a:r>
          </a:p>
          <a:p>
            <a:r>
              <a:rPr lang="en-US" sz="1600" dirty="0">
                <a:latin typeface="Yu Gothic UI Semibold" panose="020B0700000000000000" pitchFamily="34" charset="-128"/>
                <a:ea typeface="Yu Gothic UI Semibold" panose="020B0700000000000000" pitchFamily="34" charset="-128"/>
              </a:rPr>
              <a:t> {             </a:t>
            </a:r>
          </a:p>
          <a:p>
            <a:r>
              <a:rPr lang="en-US" sz="1600" dirty="0">
                <a:latin typeface="Yu Gothic UI Semibold" panose="020B0700000000000000" pitchFamily="34" charset="-128"/>
                <a:ea typeface="Yu Gothic UI Semibold" panose="020B0700000000000000" pitchFamily="34" charset="-128"/>
              </a:rPr>
              <a:t>   letters = </a:t>
            </a:r>
            <a:r>
              <a:rPr lang="en-US" sz="1600" dirty="0" err="1">
                <a:latin typeface="Yu Gothic UI Semibold" panose="020B0700000000000000" pitchFamily="34" charset="-128"/>
                <a:ea typeface="Yu Gothic UI Semibold" panose="020B0700000000000000" pitchFamily="34" charset="-128"/>
              </a:rPr>
              <a:t>name.length</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step = 1;           </a:t>
            </a:r>
          </a:p>
          <a:p>
            <a:r>
              <a:rPr lang="en-US" sz="1600" dirty="0">
                <a:latin typeface="Yu Gothic UI Semibold" panose="020B0700000000000000" pitchFamily="34" charset="-128"/>
                <a:ea typeface="Yu Gothic UI Semibold" panose="020B0700000000000000" pitchFamily="34" charset="-128"/>
              </a:rPr>
              <a:t> }    </a:t>
            </a:r>
          </a:p>
          <a:p>
            <a:r>
              <a:rPr lang="en-US" sz="1600" dirty="0">
                <a:latin typeface="Yu Gothic UI Semibold" panose="020B0700000000000000" pitchFamily="34" charset="-128"/>
                <a:ea typeface="Yu Gothic UI Semibold" panose="020B0700000000000000" pitchFamily="34" charset="-128"/>
              </a:rPr>
              <a:t>    }      </a:t>
            </a:r>
          </a:p>
          <a:p>
            <a:r>
              <a:rPr lang="en-US" sz="1600" dirty="0">
                <a:latin typeface="Yu Gothic UI Semibold" panose="020B0700000000000000" pitchFamily="34" charset="-128"/>
                <a:ea typeface="Yu Gothic UI Semibold" panose="020B0700000000000000" pitchFamily="34" charset="-128"/>
              </a:rPr>
              <a:t>  else if (step == 1) { </a:t>
            </a:r>
          </a:p>
          <a:p>
            <a:r>
              <a:rPr lang="en-US" sz="1600" dirty="0">
                <a:latin typeface="Yu Gothic UI Semibold" panose="020B0700000000000000" pitchFamily="34" charset="-128"/>
                <a:ea typeface="Yu Gothic UI Semibold" panose="020B0700000000000000" pitchFamily="34" charset="-128"/>
              </a:rPr>
              <a:t>           </a:t>
            </a:r>
            <a:r>
              <a:rPr lang="en-US" sz="1600" dirty="0" err="1">
                <a:latin typeface="Yu Gothic UI Semibold" panose="020B0700000000000000" pitchFamily="34" charset="-128"/>
                <a:ea typeface="Yu Gothic UI Semibold" panose="020B0700000000000000" pitchFamily="34" charset="-128"/>
              </a:rPr>
              <a:t>moveBall</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      </a:t>
            </a:r>
          </a:p>
          <a:p>
            <a:r>
              <a:rPr lang="en-US" sz="1600" dirty="0">
                <a:latin typeface="Yu Gothic UI Semibold" panose="020B0700000000000000" pitchFamily="34" charset="-128"/>
                <a:ea typeface="Yu Gothic UI Semibold" panose="020B0700000000000000" pitchFamily="34" charset="-128"/>
              </a:rPr>
              <a:t>  else if (step == 2) {       </a:t>
            </a:r>
          </a:p>
          <a:p>
            <a:r>
              <a:rPr lang="en-US" sz="1600" dirty="0">
                <a:latin typeface="Yu Gothic UI Semibold" panose="020B0700000000000000" pitchFamily="34" charset="-128"/>
                <a:ea typeface="Yu Gothic UI Semibold" panose="020B0700000000000000" pitchFamily="34" charset="-128"/>
              </a:rPr>
              <a:t>     </a:t>
            </a:r>
            <a:r>
              <a:rPr lang="en-US" sz="1600" dirty="0" err="1">
                <a:latin typeface="Yu Gothic UI Semibold" panose="020B0700000000000000" pitchFamily="34" charset="-128"/>
                <a:ea typeface="Yu Gothic UI Semibold" panose="020B0700000000000000" pitchFamily="34" charset="-128"/>
              </a:rPr>
              <a:t>changeColor</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        else if (step == 3) {   </a:t>
            </a:r>
          </a:p>
          <a:p>
            <a:r>
              <a:rPr lang="en-US" sz="1600" dirty="0">
                <a:latin typeface="Yu Gothic UI Semibold" panose="020B0700000000000000" pitchFamily="34" charset="-128"/>
                <a:ea typeface="Yu Gothic UI Semibold" panose="020B0700000000000000" pitchFamily="34" charset="-128"/>
              </a:rPr>
              <a:t>         </a:t>
            </a:r>
            <a:r>
              <a:rPr lang="en-US" sz="1600" dirty="0" err="1">
                <a:latin typeface="Yu Gothic UI Semibold" panose="020B0700000000000000" pitchFamily="34" charset="-128"/>
                <a:ea typeface="Yu Gothic UI Semibold" panose="020B0700000000000000" pitchFamily="34" charset="-128"/>
              </a:rPr>
              <a:t>changeSize</a:t>
            </a:r>
            <a:r>
              <a:rPr lang="en-US" sz="1600" dirty="0">
                <a:latin typeface="Yu Gothic UI Semibold" panose="020B0700000000000000" pitchFamily="34" charset="-128"/>
                <a:ea typeface="Yu Gothic UI Semibold" panose="020B0700000000000000" pitchFamily="34" charset="-128"/>
              </a:rPr>
              <a:t>();     </a:t>
            </a:r>
          </a:p>
          <a:p>
            <a:r>
              <a:rPr lang="en-US" sz="1600" dirty="0">
                <a:latin typeface="Yu Gothic UI Semibold" panose="020B0700000000000000" pitchFamily="34" charset="-128"/>
                <a:ea typeface="Yu Gothic UI Semibold" panose="020B0700000000000000" pitchFamily="34" charset="-128"/>
              </a:rPr>
              <a:t>   }       </a:t>
            </a:r>
          </a:p>
          <a:p>
            <a:r>
              <a:rPr lang="en-US" sz="1600" dirty="0">
                <a:latin typeface="Yu Gothic UI Semibold" panose="020B0700000000000000" pitchFamily="34" charset="-128"/>
                <a:ea typeface="Yu Gothic UI Semibold" panose="020B0700000000000000" pitchFamily="34" charset="-128"/>
              </a:rPr>
              <a:t> repaint();   </a:t>
            </a:r>
          </a:p>
          <a:p>
            <a:r>
              <a:rPr lang="en-US" sz="1600" dirty="0">
                <a:latin typeface="Yu Gothic UI Semibold" panose="020B0700000000000000" pitchFamily="34" charset="-128"/>
                <a:ea typeface="Yu Gothic UI Semibold" panose="020B0700000000000000" pitchFamily="34" charset="-128"/>
              </a:rPr>
              <a:t> }</a:t>
            </a:r>
            <a:endParaRPr lang="en-IN" sz="1600" dirty="0">
              <a:latin typeface="Yu Gothic UI Semibold" panose="020B0700000000000000" pitchFamily="34" charset="-128"/>
              <a:ea typeface="Yu Gothic UI Semibold" panose="020B0700000000000000" pitchFamily="34" charset="-128"/>
            </a:endParaRPr>
          </a:p>
        </p:txBody>
      </p:sp>
      <p:pic>
        <p:nvPicPr>
          <p:cNvPr id="5" name="Picture 4">
            <a:extLst>
              <a:ext uri="{FF2B5EF4-FFF2-40B4-BE49-F238E27FC236}">
                <a16:creationId xmlns:a16="http://schemas.microsoft.com/office/drawing/2014/main" id="{462EB30A-AFF2-41C7-D358-02F389579A92}"/>
              </a:ext>
            </a:extLst>
          </p:cNvPr>
          <p:cNvPicPr>
            <a:picLocks noChangeAspect="1"/>
          </p:cNvPicPr>
          <p:nvPr/>
        </p:nvPicPr>
        <p:blipFill>
          <a:blip r:embed="rId3"/>
          <a:stretch>
            <a:fillRect/>
          </a:stretch>
        </p:blipFill>
        <p:spPr>
          <a:xfrm>
            <a:off x="5772727" y="1382586"/>
            <a:ext cx="5412509" cy="526297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58771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C3DF698-EA31-3124-8033-124B53DBD816}"/>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E3360E50-139B-78EA-1797-F3D3AD9A5D38}"/>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20D923BB-F453-9840-1FE9-92E4C6A137E9}"/>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A9FAA4FE-1494-0DC8-77D6-1CF6BF0EDA1E}"/>
              </a:ext>
            </a:extLst>
          </p:cNvPr>
          <p:cNvSpPr txBox="1"/>
          <p:nvPr/>
        </p:nvSpPr>
        <p:spPr>
          <a:xfrm>
            <a:off x="184727" y="1351210"/>
            <a:ext cx="11693238" cy="321627"/>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endParaRPr lang="en-IN" sz="2400" dirty="0">
              <a:latin typeface="Yu Gothic UI Semibold" panose="020B0700000000000000" pitchFamily="34" charset="-128"/>
              <a:ea typeface="Yu Gothic UI Semibold" panose="020B0700000000000000" pitchFamily="34" charset="-128"/>
            </a:endParaRPr>
          </a:p>
        </p:txBody>
      </p:sp>
      <p:sp>
        <p:nvSpPr>
          <p:cNvPr id="3" name="TextBox 2">
            <a:extLst>
              <a:ext uri="{FF2B5EF4-FFF2-40B4-BE49-F238E27FC236}">
                <a16:creationId xmlns:a16="http://schemas.microsoft.com/office/drawing/2014/main" id="{3F1B89F2-C5DF-ED69-FBEB-7FBC6293F3C2}"/>
              </a:ext>
            </a:extLst>
          </p:cNvPr>
          <p:cNvSpPr txBox="1"/>
          <p:nvPr/>
        </p:nvSpPr>
        <p:spPr>
          <a:xfrm>
            <a:off x="350984" y="1382585"/>
            <a:ext cx="11526982" cy="5213735"/>
          </a:xfrm>
          <a:prstGeom prst="rect">
            <a:avLst/>
          </a:prstGeom>
          <a:noFill/>
        </p:spPr>
        <p:txBody>
          <a:bodyPr wrap="square" rtlCol="0">
            <a:spAutoFit/>
          </a:bodyPr>
          <a:lstStyle/>
          <a:p>
            <a:r>
              <a:rPr lang="en-US" sz="1600" dirty="0">
                <a:latin typeface="Yu Gothic UI Semibold" panose="020B0700000000000000" pitchFamily="34" charset="-128"/>
                <a:ea typeface="Yu Gothic UI Semibold" panose="020B0700000000000000" pitchFamily="34" charset="-128"/>
              </a:rPr>
              <a:t>  </a:t>
            </a:r>
            <a:r>
              <a:rPr lang="en-US" sz="2080" dirty="0">
                <a:latin typeface="Yu Gothic UI Semibold" panose="020B0700000000000000" pitchFamily="34" charset="-128"/>
                <a:ea typeface="Yu Gothic UI Semibold" panose="020B0700000000000000" pitchFamily="34" charset="-128"/>
              </a:rPr>
              <a:t>protected void</a:t>
            </a:r>
          </a:p>
          <a:p>
            <a:endParaRPr lang="en-US" sz="2080" dirty="0">
              <a:latin typeface="Yu Gothic UI Semibold" panose="020B0700000000000000" pitchFamily="34" charset="-128"/>
              <a:ea typeface="Yu Gothic UI Semibold" panose="020B0700000000000000" pitchFamily="34" charset="-128"/>
            </a:endParaRP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paintComponent</a:t>
            </a:r>
            <a:r>
              <a:rPr lang="en-US" sz="2080" dirty="0">
                <a:latin typeface="Yu Gothic UI Semibold" panose="020B0700000000000000" pitchFamily="34" charset="-128"/>
                <a:ea typeface="Yu Gothic UI Semibold" panose="020B0700000000000000" pitchFamily="34" charset="-128"/>
              </a:rPr>
              <a:t>(Graphics g) {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super.paintComponent</a:t>
            </a:r>
            <a:r>
              <a:rPr lang="en-US" sz="2080" dirty="0">
                <a:latin typeface="Yu Gothic UI Semibold" panose="020B0700000000000000" pitchFamily="34" charset="-128"/>
                <a:ea typeface="Yu Gothic UI Semibold" panose="020B0700000000000000" pitchFamily="34" charset="-128"/>
              </a:rPr>
              <a:t>(g); </a:t>
            </a:r>
          </a:p>
          <a:p>
            <a:endParaRPr lang="en-US" sz="2080" dirty="0">
              <a:latin typeface="Yu Gothic UI Semibold" panose="020B0700000000000000" pitchFamily="34" charset="-128"/>
              <a:ea typeface="Yu Gothic UI Semibold" panose="020B0700000000000000" pitchFamily="34" charset="-128"/>
            </a:endParaRP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showName</a:t>
            </a:r>
            <a:r>
              <a:rPr lang="en-US" sz="2080" dirty="0">
                <a:latin typeface="Yu Gothic UI Semibold" panose="020B0700000000000000" pitchFamily="34" charset="-128"/>
                <a:ea typeface="Yu Gothic UI Semibold" panose="020B0700000000000000" pitchFamily="34" charset="-128"/>
              </a:rPr>
              <a:t>(g);       </a:t>
            </a:r>
          </a:p>
          <a:p>
            <a:endParaRPr lang="en-US" sz="2080" dirty="0">
              <a:latin typeface="Yu Gothic UI Semibold" panose="020B0700000000000000" pitchFamily="34" charset="-128"/>
              <a:ea typeface="Yu Gothic UI Semibold" panose="020B0700000000000000" pitchFamily="34" charset="-128"/>
            </a:endParaRP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g.setColor</a:t>
            </a:r>
            <a:r>
              <a:rPr lang="en-US" sz="2080" dirty="0">
                <a:latin typeface="Yu Gothic UI Semibold" panose="020B0700000000000000" pitchFamily="34" charset="-128"/>
                <a:ea typeface="Yu Gothic UI Semibold" panose="020B0700000000000000" pitchFamily="34" charset="-128"/>
              </a:rPr>
              <a:t>(</a:t>
            </a:r>
            <a:r>
              <a:rPr lang="en-US" sz="2080" dirty="0" err="1">
                <a:latin typeface="Yu Gothic UI Semibold" panose="020B0700000000000000" pitchFamily="34" charset="-128"/>
                <a:ea typeface="Yu Gothic UI Semibold" panose="020B0700000000000000" pitchFamily="34" charset="-128"/>
              </a:rPr>
              <a:t>Color.WHITE</a:t>
            </a:r>
            <a:r>
              <a:rPr lang="en-US" sz="2080" dirty="0">
                <a:latin typeface="Yu Gothic UI Semibold" panose="020B0700000000000000" pitchFamily="34" charset="-128"/>
                <a:ea typeface="Yu Gothic UI Semibold" panose="020B0700000000000000" pitchFamily="34" charset="-128"/>
              </a:rPr>
              <a:t>);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g.setFont</a:t>
            </a:r>
            <a:r>
              <a:rPr lang="en-US" sz="2080" dirty="0">
                <a:latin typeface="Yu Gothic UI Semibold" panose="020B0700000000000000" pitchFamily="34" charset="-128"/>
                <a:ea typeface="Yu Gothic UI Semibold" panose="020B0700000000000000" pitchFamily="34" charset="-128"/>
              </a:rPr>
              <a:t>(new Font("Arial", </a:t>
            </a:r>
            <a:r>
              <a:rPr lang="en-US" sz="2080" dirty="0" err="1">
                <a:latin typeface="Yu Gothic UI Semibold" panose="020B0700000000000000" pitchFamily="34" charset="-128"/>
                <a:ea typeface="Yu Gothic UI Semibold" panose="020B0700000000000000" pitchFamily="34" charset="-128"/>
              </a:rPr>
              <a:t>Font.BOLD</a:t>
            </a:r>
            <a:r>
              <a:rPr lang="en-US" sz="2080" dirty="0">
                <a:latin typeface="Yu Gothic UI Semibold" panose="020B0700000000000000" pitchFamily="34" charset="-128"/>
                <a:ea typeface="Yu Gothic UI Semibold" panose="020B0700000000000000" pitchFamily="34" charset="-128"/>
              </a:rPr>
              <a:t>, 25));   </a:t>
            </a:r>
          </a:p>
          <a:p>
            <a:endParaRPr lang="en-US" sz="2080" dirty="0">
              <a:latin typeface="Yu Gothic UI Semibold" panose="020B0700000000000000" pitchFamily="34" charset="-128"/>
              <a:ea typeface="Yu Gothic UI Semibold" panose="020B0700000000000000" pitchFamily="34" charset="-128"/>
            </a:endParaRP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g.drawString</a:t>
            </a:r>
            <a:r>
              <a:rPr lang="en-US" sz="2080" dirty="0">
                <a:latin typeface="Yu Gothic UI Semibold" panose="020B0700000000000000" pitchFamily="34" charset="-128"/>
                <a:ea typeface="Yu Gothic UI Semibold" panose="020B0700000000000000" pitchFamily="34" charset="-128"/>
              </a:rPr>
              <a:t>("A", 40, 260);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g.drawString</a:t>
            </a:r>
            <a:r>
              <a:rPr lang="en-US" sz="2080" dirty="0">
                <a:latin typeface="Yu Gothic UI Semibold" panose="020B0700000000000000" pitchFamily="34" charset="-128"/>
                <a:ea typeface="Yu Gothic UI Semibold" panose="020B0700000000000000" pitchFamily="34" charset="-128"/>
              </a:rPr>
              <a:t>("B", 620, 260);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g.drawLine</a:t>
            </a:r>
            <a:r>
              <a:rPr lang="en-US" sz="2080" dirty="0">
                <a:latin typeface="Yu Gothic UI Semibold" panose="020B0700000000000000" pitchFamily="34" charset="-128"/>
                <a:ea typeface="Yu Gothic UI Semibold" panose="020B0700000000000000" pitchFamily="34" charset="-128"/>
              </a:rPr>
              <a:t>(60, 270, 630, 270);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g.setColor</a:t>
            </a:r>
            <a:r>
              <a:rPr lang="en-US" sz="2080" dirty="0">
                <a:latin typeface="Yu Gothic UI Semibold" panose="020B0700000000000000" pitchFamily="34" charset="-128"/>
                <a:ea typeface="Yu Gothic UI Semibold" panose="020B0700000000000000" pitchFamily="34" charset="-128"/>
              </a:rPr>
              <a:t>(</a:t>
            </a:r>
            <a:r>
              <a:rPr lang="en-US" sz="2080" dirty="0" err="1">
                <a:latin typeface="Yu Gothic UI Semibold" panose="020B0700000000000000" pitchFamily="34" charset="-128"/>
                <a:ea typeface="Yu Gothic UI Semibold" panose="020B0700000000000000" pitchFamily="34" charset="-128"/>
              </a:rPr>
              <a:t>ballColor</a:t>
            </a:r>
            <a:r>
              <a:rPr lang="en-US" sz="2080" dirty="0">
                <a:latin typeface="Yu Gothic UI Semibold" panose="020B0700000000000000" pitchFamily="34" charset="-128"/>
                <a:ea typeface="Yu Gothic UI Semibold" panose="020B0700000000000000" pitchFamily="34" charset="-128"/>
              </a:rPr>
              <a:t>);      </a:t>
            </a:r>
          </a:p>
          <a:p>
            <a:r>
              <a:rPr lang="en-US" sz="2080" dirty="0">
                <a:latin typeface="Yu Gothic UI Semibold" panose="020B0700000000000000" pitchFamily="34" charset="-128"/>
                <a:ea typeface="Yu Gothic UI Semibold" panose="020B0700000000000000" pitchFamily="34" charset="-128"/>
              </a:rPr>
              <a:t>  </a:t>
            </a:r>
            <a:r>
              <a:rPr lang="en-US" sz="2080" dirty="0" err="1">
                <a:latin typeface="Yu Gothic UI Semibold" panose="020B0700000000000000" pitchFamily="34" charset="-128"/>
                <a:ea typeface="Yu Gothic UI Semibold" panose="020B0700000000000000" pitchFamily="34" charset="-128"/>
              </a:rPr>
              <a:t>g.fillOval</a:t>
            </a:r>
            <a:r>
              <a:rPr lang="en-US" sz="2080" dirty="0">
                <a:latin typeface="Yu Gothic UI Semibold" panose="020B0700000000000000" pitchFamily="34" charset="-128"/>
                <a:ea typeface="Yu Gothic UI Semibold" panose="020B0700000000000000" pitchFamily="34" charset="-128"/>
              </a:rPr>
              <a:t>(x, 270 - size / 2, size, size);  </a:t>
            </a:r>
          </a:p>
          <a:p>
            <a:r>
              <a:rPr lang="en-US" sz="2080" dirty="0">
                <a:latin typeface="Yu Gothic UI Semibold" panose="020B0700000000000000" pitchFamily="34" charset="-128"/>
                <a:ea typeface="Yu Gothic UI Semibold" panose="020B0700000000000000" pitchFamily="34" charset="-128"/>
              </a:rPr>
              <a:t>  }</a:t>
            </a:r>
            <a:endParaRPr lang="en-IN" sz="2080" dirty="0">
              <a:latin typeface="Yu Gothic UI Semibold" panose="020B0700000000000000" pitchFamily="34" charset="-128"/>
              <a:ea typeface="Yu Gothic UI Semibold" panose="020B0700000000000000" pitchFamily="34" charset="-128"/>
            </a:endParaRPr>
          </a:p>
        </p:txBody>
      </p:sp>
    </p:spTree>
    <p:extLst>
      <p:ext uri="{BB962C8B-B14F-4D97-AF65-F5344CB8AC3E}">
        <p14:creationId xmlns:p14="http://schemas.microsoft.com/office/powerpoint/2010/main" val="521397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EFDBB1B-BCF5-B309-B2E5-2351742C206E}"/>
            </a:ext>
          </a:extLst>
        </p:cNvPr>
        <p:cNvGrpSpPr/>
        <p:nvPr/>
      </p:nvGrpSpPr>
      <p:grpSpPr>
        <a:xfrm>
          <a:off x="0" y="0"/>
          <a:ext cx="0" cy="0"/>
          <a:chOff x="0" y="0"/>
          <a:chExt cx="0" cy="0"/>
        </a:xfrm>
      </p:grpSpPr>
      <p:sp>
        <p:nvSpPr>
          <p:cNvPr id="26" name="TextBox 25">
            <a:extLst>
              <a:ext uri="{FF2B5EF4-FFF2-40B4-BE49-F238E27FC236}">
                <a16:creationId xmlns:a16="http://schemas.microsoft.com/office/drawing/2014/main" id="{13752A22-330F-9801-36CA-174A11336A9E}"/>
              </a:ext>
            </a:extLst>
          </p:cNvPr>
          <p:cNvSpPr txBox="1"/>
          <p:nvPr/>
        </p:nvSpPr>
        <p:spPr>
          <a:xfrm>
            <a:off x="314036" y="212436"/>
            <a:ext cx="11397673" cy="769441"/>
          </a:xfrm>
          <a:prstGeom prst="rect">
            <a:avLst/>
          </a:prstGeom>
          <a:solidFill>
            <a:schemeClr val="accent4">
              <a:lumMod val="60000"/>
              <a:lumOff val="40000"/>
            </a:schemeClr>
          </a:solidFill>
        </p:spPr>
        <p:txBody>
          <a:bodyPr wrap="square" rtlCol="0">
            <a:spAutoFit/>
          </a:bodyPr>
          <a:lstStyle/>
          <a:p>
            <a:pPr algn="ctr"/>
            <a:r>
              <a:rPr lang="en-IN" sz="4400" dirty="0">
                <a:solidFill>
                  <a:srgbClr val="3C0A02"/>
                </a:solidFill>
              </a:rPr>
              <a:t>BALL ANIMATION </a:t>
            </a:r>
          </a:p>
        </p:txBody>
      </p:sp>
      <p:sp>
        <p:nvSpPr>
          <p:cNvPr id="28" name="TextBox 27">
            <a:extLst>
              <a:ext uri="{FF2B5EF4-FFF2-40B4-BE49-F238E27FC236}">
                <a16:creationId xmlns:a16="http://schemas.microsoft.com/office/drawing/2014/main" id="{AD34E494-71A6-5A3A-2631-0BCE21AEABD8}"/>
              </a:ext>
            </a:extLst>
          </p:cNvPr>
          <p:cNvSpPr txBox="1"/>
          <p:nvPr/>
        </p:nvSpPr>
        <p:spPr>
          <a:xfrm>
            <a:off x="314035" y="981878"/>
            <a:ext cx="11397674" cy="369332"/>
          </a:xfrm>
          <a:prstGeom prst="rect">
            <a:avLst/>
          </a:prstGeom>
          <a:noFill/>
        </p:spPr>
        <p:txBody>
          <a:bodyPr wrap="square">
            <a:spAutoFit/>
          </a:bodyPr>
          <a:lstStyle/>
          <a:p>
            <a:pPr algn="ctr"/>
            <a:r>
              <a:rPr lang="en-IN" dirty="0">
                <a:solidFill>
                  <a:schemeClr val="accent5">
                    <a:lumMod val="75000"/>
                  </a:schemeClr>
                </a:solidFill>
              </a:rPr>
              <a:t>File name: BallAnimation.java</a:t>
            </a:r>
          </a:p>
        </p:txBody>
      </p:sp>
      <p:sp>
        <p:nvSpPr>
          <p:cNvPr id="29" name="TextBox 28">
            <a:extLst>
              <a:ext uri="{FF2B5EF4-FFF2-40B4-BE49-F238E27FC236}">
                <a16:creationId xmlns:a16="http://schemas.microsoft.com/office/drawing/2014/main" id="{97D443A8-01AA-4F90-2E1D-5310370348C7}"/>
              </a:ext>
            </a:extLst>
          </p:cNvPr>
          <p:cNvSpPr txBox="1"/>
          <p:nvPr/>
        </p:nvSpPr>
        <p:spPr>
          <a:xfrm>
            <a:off x="184727" y="1351210"/>
            <a:ext cx="11693238" cy="321627"/>
          </a:xfrm>
          <a:prstGeom prst="rect">
            <a:avLst/>
          </a:prstGeom>
          <a:noFill/>
        </p:spPr>
        <p:txBody>
          <a:bodyPr wrap="square" rtlCol="0">
            <a:spAutoFit/>
          </a:bodyPr>
          <a:lstStyle/>
          <a:p>
            <a:r>
              <a:rPr lang="en-US" sz="1490" dirty="0">
                <a:latin typeface="Yu Gothic UI Semibold" panose="020B0700000000000000" pitchFamily="34" charset="-128"/>
                <a:ea typeface="Yu Gothic UI Semibold" panose="020B0700000000000000" pitchFamily="34" charset="-128"/>
              </a:rPr>
              <a:t> </a:t>
            </a:r>
            <a:endParaRPr lang="en-IN" sz="2400" dirty="0">
              <a:latin typeface="Yu Gothic UI Semibold" panose="020B0700000000000000" pitchFamily="34" charset="-128"/>
              <a:ea typeface="Yu Gothic UI Semibold" panose="020B0700000000000000" pitchFamily="34" charset="-128"/>
            </a:endParaRPr>
          </a:p>
        </p:txBody>
      </p:sp>
      <p:sp>
        <p:nvSpPr>
          <p:cNvPr id="3" name="TextBox 2">
            <a:extLst>
              <a:ext uri="{FF2B5EF4-FFF2-40B4-BE49-F238E27FC236}">
                <a16:creationId xmlns:a16="http://schemas.microsoft.com/office/drawing/2014/main" id="{29E68403-B700-6097-8117-4627F20FA6BF}"/>
              </a:ext>
            </a:extLst>
          </p:cNvPr>
          <p:cNvSpPr txBox="1"/>
          <p:nvPr/>
        </p:nvSpPr>
        <p:spPr>
          <a:xfrm>
            <a:off x="350984" y="1382585"/>
            <a:ext cx="11526982" cy="5262979"/>
          </a:xfrm>
          <a:prstGeom prst="rect">
            <a:avLst/>
          </a:prstGeom>
          <a:noFill/>
        </p:spPr>
        <p:txBody>
          <a:bodyPr wrap="square" rtlCol="0">
            <a:spAutoFit/>
          </a:bodyPr>
          <a:lstStyle/>
          <a:p>
            <a:r>
              <a:rPr lang="en-US" sz="2400" dirty="0">
                <a:latin typeface="Yu Gothic UI Semibold" panose="020B0700000000000000" pitchFamily="34" charset="-128"/>
                <a:ea typeface="Yu Gothic UI Semibold" panose="020B0700000000000000" pitchFamily="34" charset="-128"/>
              </a:rPr>
              <a:t>   public static void main(String[] </a:t>
            </a:r>
            <a:r>
              <a:rPr lang="en-US" sz="2400" dirty="0" err="1">
                <a:latin typeface="Yu Gothic UI Semibold" panose="020B0700000000000000" pitchFamily="34" charset="-128"/>
                <a:ea typeface="Yu Gothic UI Semibold" panose="020B0700000000000000" pitchFamily="34" charset="-128"/>
              </a:rPr>
              <a:t>args</a:t>
            </a:r>
            <a:r>
              <a:rPr lang="en-US" sz="2400" dirty="0">
                <a:latin typeface="Yu Gothic UI Semibold" panose="020B0700000000000000" pitchFamily="34" charset="-128"/>
                <a:ea typeface="Yu Gothic UI Semibold" panose="020B0700000000000000" pitchFamily="34" charset="-128"/>
              </a:rPr>
              <a:t>) {</a:t>
            </a:r>
          </a:p>
          <a:p>
            <a:endParaRPr lang="en-US" sz="2400" dirty="0">
              <a:latin typeface="Yu Gothic UI Semibold" panose="020B0700000000000000" pitchFamily="34" charset="-128"/>
              <a:ea typeface="Yu Gothic UI Semibold" panose="020B0700000000000000" pitchFamily="34" charset="-128"/>
            </a:endParaRP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JFrame</a:t>
            </a:r>
            <a:r>
              <a:rPr lang="en-US" sz="2400" dirty="0">
                <a:latin typeface="Yu Gothic UI Semibold" panose="020B0700000000000000" pitchFamily="34" charset="-128"/>
                <a:ea typeface="Yu Gothic UI Semibold" panose="020B0700000000000000" pitchFamily="34" charset="-128"/>
              </a:rPr>
              <a:t> frame = new </a:t>
            </a:r>
            <a:r>
              <a:rPr lang="en-US" sz="2400" dirty="0" err="1">
                <a:latin typeface="Yu Gothic UI Semibold" panose="020B0700000000000000" pitchFamily="34" charset="-128"/>
                <a:ea typeface="Yu Gothic UI Semibold" panose="020B0700000000000000" pitchFamily="34" charset="-128"/>
              </a:rPr>
              <a:t>JFrame</a:t>
            </a:r>
            <a:r>
              <a:rPr lang="en-US" sz="2400" dirty="0">
                <a:latin typeface="Yu Gothic UI Semibold" panose="020B0700000000000000" pitchFamily="34" charset="-128"/>
                <a:ea typeface="Yu Gothic UI Semibold" panose="020B0700000000000000" pitchFamily="34" charset="-128"/>
              </a:rPr>
              <a:t>("Java Animation Project");  </a:t>
            </a:r>
          </a:p>
          <a:p>
            <a:endParaRPr lang="en-US" sz="2400" dirty="0">
              <a:latin typeface="Yu Gothic UI Semibold" panose="020B0700000000000000" pitchFamily="34" charset="-128"/>
              <a:ea typeface="Yu Gothic UI Semibold" panose="020B0700000000000000" pitchFamily="34" charset="-128"/>
            </a:endParaRP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frame.add</a:t>
            </a:r>
            <a:r>
              <a:rPr lang="en-US" sz="2400" dirty="0">
                <a:latin typeface="Yu Gothic UI Semibold" panose="020B0700000000000000" pitchFamily="34" charset="-128"/>
                <a:ea typeface="Yu Gothic UI Semibold" panose="020B0700000000000000" pitchFamily="34" charset="-128"/>
              </a:rPr>
              <a:t>(new </a:t>
            </a:r>
            <a:r>
              <a:rPr lang="en-US" sz="2400" dirty="0" err="1">
                <a:latin typeface="Yu Gothic UI Semibold" panose="020B0700000000000000" pitchFamily="34" charset="-128"/>
                <a:ea typeface="Yu Gothic UI Semibold" panose="020B0700000000000000" pitchFamily="34" charset="-128"/>
              </a:rPr>
              <a:t>BallAnimation</a:t>
            </a:r>
            <a:r>
              <a:rPr lang="en-US" sz="2400" dirty="0">
                <a:latin typeface="Yu Gothic UI Semibold" panose="020B0700000000000000" pitchFamily="34" charset="-128"/>
                <a:ea typeface="Yu Gothic UI Semibold" panose="020B0700000000000000" pitchFamily="34" charset="-128"/>
              </a:rPr>
              <a:t>());   </a:t>
            </a:r>
          </a:p>
          <a:p>
            <a:endParaRPr lang="en-US" sz="2400" dirty="0">
              <a:latin typeface="Yu Gothic UI Semibold" panose="020B0700000000000000" pitchFamily="34" charset="-128"/>
              <a:ea typeface="Yu Gothic UI Semibold" panose="020B0700000000000000" pitchFamily="34" charset="-128"/>
            </a:endParaRP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frame.setSize</a:t>
            </a:r>
            <a:r>
              <a:rPr lang="en-US" sz="2400" dirty="0">
                <a:latin typeface="Yu Gothic UI Semibold" panose="020B0700000000000000" pitchFamily="34" charset="-128"/>
                <a:ea typeface="Yu Gothic UI Semibold" panose="020B0700000000000000" pitchFamily="34" charset="-128"/>
              </a:rPr>
              <a:t>(700, 450);   </a:t>
            </a:r>
          </a:p>
          <a:p>
            <a:endParaRPr lang="en-US" sz="2400" dirty="0">
              <a:latin typeface="Yu Gothic UI Semibold" panose="020B0700000000000000" pitchFamily="34" charset="-128"/>
              <a:ea typeface="Yu Gothic UI Semibold" panose="020B0700000000000000" pitchFamily="34" charset="-128"/>
            </a:endParaRP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frame.setDefaultCloseOperation</a:t>
            </a:r>
            <a:r>
              <a:rPr lang="en-US" sz="2400" dirty="0">
                <a:latin typeface="Yu Gothic UI Semibold" panose="020B0700000000000000" pitchFamily="34" charset="-128"/>
                <a:ea typeface="Yu Gothic UI Semibold" panose="020B0700000000000000" pitchFamily="34" charset="-128"/>
              </a:rPr>
              <a:t>(</a:t>
            </a:r>
            <a:r>
              <a:rPr lang="en-US" sz="2400" dirty="0" err="1">
                <a:latin typeface="Yu Gothic UI Semibold" panose="020B0700000000000000" pitchFamily="34" charset="-128"/>
                <a:ea typeface="Yu Gothic UI Semibold" panose="020B0700000000000000" pitchFamily="34" charset="-128"/>
              </a:rPr>
              <a:t>JFrame.EXIT_ON_CLOSE</a:t>
            </a:r>
            <a:r>
              <a:rPr lang="en-US" sz="2400" dirty="0">
                <a:latin typeface="Yu Gothic UI Semibold" panose="020B0700000000000000" pitchFamily="34" charset="-128"/>
                <a:ea typeface="Yu Gothic UI Semibold" panose="020B0700000000000000" pitchFamily="34" charset="-128"/>
              </a:rPr>
              <a:t>);  </a:t>
            </a:r>
          </a:p>
          <a:p>
            <a:endParaRPr lang="en-US" sz="2400" dirty="0">
              <a:latin typeface="Yu Gothic UI Semibold" panose="020B0700000000000000" pitchFamily="34" charset="-128"/>
              <a:ea typeface="Yu Gothic UI Semibold" panose="020B0700000000000000" pitchFamily="34" charset="-128"/>
            </a:endParaRP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frame.setLocationRelativeTo</a:t>
            </a:r>
            <a:r>
              <a:rPr lang="en-US" sz="2400" dirty="0">
                <a:latin typeface="Yu Gothic UI Semibold" panose="020B0700000000000000" pitchFamily="34" charset="-128"/>
                <a:ea typeface="Yu Gothic UI Semibold" panose="020B0700000000000000" pitchFamily="34" charset="-128"/>
              </a:rPr>
              <a:t>(null);   </a:t>
            </a:r>
          </a:p>
          <a:p>
            <a:r>
              <a:rPr lang="en-US" sz="2400" dirty="0">
                <a:latin typeface="Yu Gothic UI Semibold" panose="020B0700000000000000" pitchFamily="34" charset="-128"/>
                <a:ea typeface="Yu Gothic UI Semibold" panose="020B0700000000000000" pitchFamily="34" charset="-128"/>
              </a:rPr>
              <a:t>     </a:t>
            </a:r>
            <a:r>
              <a:rPr lang="en-US" sz="2400" dirty="0" err="1">
                <a:latin typeface="Yu Gothic UI Semibold" panose="020B0700000000000000" pitchFamily="34" charset="-128"/>
                <a:ea typeface="Yu Gothic UI Semibold" panose="020B0700000000000000" pitchFamily="34" charset="-128"/>
              </a:rPr>
              <a:t>frame.setVisible</a:t>
            </a:r>
            <a:r>
              <a:rPr lang="en-US" sz="2400" dirty="0">
                <a:latin typeface="Yu Gothic UI Semibold" panose="020B0700000000000000" pitchFamily="34" charset="-128"/>
                <a:ea typeface="Yu Gothic UI Semibold" panose="020B0700000000000000" pitchFamily="34" charset="-128"/>
              </a:rPr>
              <a:t>(true);   </a:t>
            </a:r>
          </a:p>
          <a:p>
            <a:r>
              <a:rPr lang="en-US" sz="2400" dirty="0">
                <a:latin typeface="Yu Gothic UI Semibold" panose="020B0700000000000000" pitchFamily="34" charset="-128"/>
                <a:ea typeface="Yu Gothic UI Semibold" panose="020B0700000000000000" pitchFamily="34" charset="-128"/>
              </a:rPr>
              <a:t> }</a:t>
            </a:r>
          </a:p>
          <a:p>
            <a:r>
              <a:rPr lang="en-US" sz="2400" dirty="0">
                <a:latin typeface="Yu Gothic UI Semibold" panose="020B0700000000000000" pitchFamily="34" charset="-128"/>
                <a:ea typeface="Yu Gothic UI Semibold" panose="020B0700000000000000" pitchFamily="34" charset="-128"/>
              </a:rPr>
              <a:t>}</a:t>
            </a:r>
            <a:endParaRPr lang="en-IN" sz="2400" dirty="0">
              <a:latin typeface="Yu Gothic UI Semibold" panose="020B0700000000000000" pitchFamily="34" charset="-128"/>
              <a:ea typeface="Yu Gothic UI Semibold" panose="020B0700000000000000" pitchFamily="34" charset="-128"/>
            </a:endParaRPr>
          </a:p>
        </p:txBody>
      </p:sp>
    </p:spTree>
    <p:extLst>
      <p:ext uri="{BB962C8B-B14F-4D97-AF65-F5344CB8AC3E}">
        <p14:creationId xmlns:p14="http://schemas.microsoft.com/office/powerpoint/2010/main" val="545584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AB2AF68-D68F-3877-AFD5-26EBCAC695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29D7BF-7635-E638-381B-CCA94EA963FD}"/>
              </a:ext>
            </a:extLst>
          </p:cNvPr>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3A2B054A-9E32-C90B-D740-E50442873325}"/>
              </a:ext>
            </a:extLst>
          </p:cNvPr>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FEBCD7B-92F7-1EFD-99DD-F9A4FB458E2A}"/>
              </a:ext>
            </a:extLst>
          </p:cNvPr>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4. How Animation Works</a:t>
            </a:r>
          </a:p>
        </p:txBody>
      </p:sp>
      <p:sp>
        <p:nvSpPr>
          <p:cNvPr id="5" name="Rounded Rectangle 4">
            <a:extLst>
              <a:ext uri="{FF2B5EF4-FFF2-40B4-BE49-F238E27FC236}">
                <a16:creationId xmlns:a16="http://schemas.microsoft.com/office/drawing/2014/main" id="{0789344A-13CE-91B2-8E64-9B6C1931C960}"/>
              </a:ext>
            </a:extLst>
          </p:cNvPr>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2</a:t>
            </a:r>
          </a:p>
        </p:txBody>
      </p:sp>
      <p:sp>
        <p:nvSpPr>
          <p:cNvPr id="6" name="TextBox 5">
            <a:extLst>
              <a:ext uri="{FF2B5EF4-FFF2-40B4-BE49-F238E27FC236}">
                <a16:creationId xmlns:a16="http://schemas.microsoft.com/office/drawing/2014/main" id="{3CFE1A71-FF9E-593B-EE5D-80A6158E7043}"/>
              </a:ext>
            </a:extLst>
          </p:cNvPr>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5</a:t>
            </a:r>
          </a:p>
        </p:txBody>
      </p:sp>
      <p:sp>
        <p:nvSpPr>
          <p:cNvPr id="7" name="Oval 6">
            <a:extLst>
              <a:ext uri="{FF2B5EF4-FFF2-40B4-BE49-F238E27FC236}">
                <a16:creationId xmlns:a16="http://schemas.microsoft.com/office/drawing/2014/main" id="{0327F759-5372-14DE-93D3-0A9400FB2C3F}"/>
              </a:ext>
            </a:extLst>
          </p:cNvPr>
          <p:cNvSpPr/>
          <p:nvPr/>
        </p:nvSpPr>
        <p:spPr>
          <a:xfrm>
            <a:off x="731520" y="1828800"/>
            <a:ext cx="658368" cy="658368"/>
          </a:xfrm>
          <a:prstGeom prst="ellipse">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1</a:t>
            </a:r>
          </a:p>
        </p:txBody>
      </p:sp>
      <p:sp>
        <p:nvSpPr>
          <p:cNvPr id="8" name="TextBox 7">
            <a:extLst>
              <a:ext uri="{FF2B5EF4-FFF2-40B4-BE49-F238E27FC236}">
                <a16:creationId xmlns:a16="http://schemas.microsoft.com/office/drawing/2014/main" id="{52E05813-3424-1287-446B-7AC3D4290E6D}"/>
              </a:ext>
            </a:extLst>
          </p:cNvPr>
          <p:cNvSpPr txBox="1"/>
          <p:nvPr/>
        </p:nvSpPr>
        <p:spPr>
          <a:xfrm>
            <a:off x="457200" y="2697480"/>
            <a:ext cx="1234440" cy="457200"/>
          </a:xfrm>
          <a:prstGeom prst="rect">
            <a:avLst/>
          </a:prstGeom>
          <a:noFill/>
        </p:spPr>
        <p:txBody>
          <a:bodyPr wrap="square">
            <a:spAutoFit/>
          </a:bodyPr>
          <a:lstStyle/>
          <a:p>
            <a:pPr algn="ctr">
              <a:defRPr sz="1500" b="1">
                <a:solidFill>
                  <a:srgbClr val="232D3C"/>
                </a:solidFill>
                <a:latin typeface="Arial"/>
              </a:defRPr>
            </a:pPr>
            <a:r>
              <a:t>Make a ball</a:t>
            </a:r>
          </a:p>
        </p:txBody>
      </p:sp>
      <p:sp>
        <p:nvSpPr>
          <p:cNvPr id="9" name="TextBox 8">
            <a:extLst>
              <a:ext uri="{FF2B5EF4-FFF2-40B4-BE49-F238E27FC236}">
                <a16:creationId xmlns:a16="http://schemas.microsoft.com/office/drawing/2014/main" id="{CC5711AB-E6ED-FBFE-983E-B5F18A0B3E42}"/>
              </a:ext>
            </a:extLst>
          </p:cNvPr>
          <p:cNvSpPr txBox="1"/>
          <p:nvPr/>
        </p:nvSpPr>
        <p:spPr>
          <a:xfrm>
            <a:off x="1965960" y="2011680"/>
            <a:ext cx="457200" cy="274320"/>
          </a:xfrm>
          <a:prstGeom prst="rect">
            <a:avLst/>
          </a:prstGeom>
          <a:noFill/>
        </p:spPr>
        <p:txBody>
          <a:bodyPr wrap="square">
            <a:spAutoFit/>
          </a:bodyPr>
          <a:lstStyle/>
          <a:p>
            <a:pPr algn="ctr">
              <a:defRPr sz="2400" b="1">
                <a:solidFill>
                  <a:srgbClr val="5F6E82"/>
                </a:solidFill>
                <a:latin typeface="Arial"/>
              </a:defRPr>
            </a:pPr>
            <a:r>
              <a:t>→</a:t>
            </a:r>
          </a:p>
        </p:txBody>
      </p:sp>
      <p:sp>
        <p:nvSpPr>
          <p:cNvPr id="10" name="Oval 9">
            <a:extLst>
              <a:ext uri="{FF2B5EF4-FFF2-40B4-BE49-F238E27FC236}">
                <a16:creationId xmlns:a16="http://schemas.microsoft.com/office/drawing/2014/main" id="{F14C1CCC-FF52-7126-9CB9-D58A6C1B6E2D}"/>
              </a:ext>
            </a:extLst>
          </p:cNvPr>
          <p:cNvSpPr/>
          <p:nvPr/>
        </p:nvSpPr>
        <p:spPr>
          <a:xfrm>
            <a:off x="2971800" y="1828800"/>
            <a:ext cx="658368" cy="658368"/>
          </a:xfrm>
          <a:prstGeom prst="ellipse">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2</a:t>
            </a:r>
          </a:p>
        </p:txBody>
      </p:sp>
      <p:sp>
        <p:nvSpPr>
          <p:cNvPr id="11" name="TextBox 10">
            <a:extLst>
              <a:ext uri="{FF2B5EF4-FFF2-40B4-BE49-F238E27FC236}">
                <a16:creationId xmlns:a16="http://schemas.microsoft.com/office/drawing/2014/main" id="{35C143A7-E183-DD29-9303-1B584786F3AA}"/>
              </a:ext>
            </a:extLst>
          </p:cNvPr>
          <p:cNvSpPr txBox="1"/>
          <p:nvPr/>
        </p:nvSpPr>
        <p:spPr>
          <a:xfrm>
            <a:off x="2697480" y="2697480"/>
            <a:ext cx="1234440" cy="457200"/>
          </a:xfrm>
          <a:prstGeom prst="rect">
            <a:avLst/>
          </a:prstGeom>
          <a:noFill/>
        </p:spPr>
        <p:txBody>
          <a:bodyPr wrap="square">
            <a:spAutoFit/>
          </a:bodyPr>
          <a:lstStyle/>
          <a:p>
            <a:pPr algn="ctr">
              <a:defRPr sz="1500" b="1">
                <a:solidFill>
                  <a:srgbClr val="232D3C"/>
                </a:solidFill>
                <a:latin typeface="Arial"/>
              </a:defRPr>
            </a:pPr>
            <a:r>
              <a:t>Draw it</a:t>
            </a:r>
          </a:p>
        </p:txBody>
      </p:sp>
      <p:sp>
        <p:nvSpPr>
          <p:cNvPr id="12" name="TextBox 11">
            <a:extLst>
              <a:ext uri="{FF2B5EF4-FFF2-40B4-BE49-F238E27FC236}">
                <a16:creationId xmlns:a16="http://schemas.microsoft.com/office/drawing/2014/main" id="{371BC857-4163-C412-566B-F1780AC879D5}"/>
              </a:ext>
            </a:extLst>
          </p:cNvPr>
          <p:cNvSpPr txBox="1"/>
          <p:nvPr/>
        </p:nvSpPr>
        <p:spPr>
          <a:xfrm>
            <a:off x="4206240" y="2011680"/>
            <a:ext cx="457200" cy="274320"/>
          </a:xfrm>
          <a:prstGeom prst="rect">
            <a:avLst/>
          </a:prstGeom>
          <a:noFill/>
        </p:spPr>
        <p:txBody>
          <a:bodyPr wrap="square">
            <a:spAutoFit/>
          </a:bodyPr>
          <a:lstStyle/>
          <a:p>
            <a:pPr algn="ctr">
              <a:defRPr sz="2400" b="1">
                <a:solidFill>
                  <a:srgbClr val="5F6E82"/>
                </a:solidFill>
                <a:latin typeface="Arial"/>
              </a:defRPr>
            </a:pPr>
            <a:r>
              <a:t>→</a:t>
            </a:r>
          </a:p>
        </p:txBody>
      </p:sp>
      <p:sp>
        <p:nvSpPr>
          <p:cNvPr id="13" name="Oval 12">
            <a:extLst>
              <a:ext uri="{FF2B5EF4-FFF2-40B4-BE49-F238E27FC236}">
                <a16:creationId xmlns:a16="http://schemas.microsoft.com/office/drawing/2014/main" id="{503E3611-9EC3-160E-CDC0-A0410F2D1A59}"/>
              </a:ext>
            </a:extLst>
          </p:cNvPr>
          <p:cNvSpPr/>
          <p:nvPr/>
        </p:nvSpPr>
        <p:spPr>
          <a:xfrm>
            <a:off x="5212080" y="1828800"/>
            <a:ext cx="658368" cy="658368"/>
          </a:xfrm>
          <a:prstGeom prst="ellipse">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3</a:t>
            </a:r>
          </a:p>
        </p:txBody>
      </p:sp>
      <p:sp>
        <p:nvSpPr>
          <p:cNvPr id="14" name="TextBox 13">
            <a:extLst>
              <a:ext uri="{FF2B5EF4-FFF2-40B4-BE49-F238E27FC236}">
                <a16:creationId xmlns:a16="http://schemas.microsoft.com/office/drawing/2014/main" id="{2B14D3B2-6B67-9068-BBDB-D9D9B99976E2}"/>
              </a:ext>
            </a:extLst>
          </p:cNvPr>
          <p:cNvSpPr txBox="1"/>
          <p:nvPr/>
        </p:nvSpPr>
        <p:spPr>
          <a:xfrm>
            <a:off x="4937760" y="2697480"/>
            <a:ext cx="1234440" cy="457200"/>
          </a:xfrm>
          <a:prstGeom prst="rect">
            <a:avLst/>
          </a:prstGeom>
          <a:noFill/>
        </p:spPr>
        <p:txBody>
          <a:bodyPr wrap="square">
            <a:spAutoFit/>
          </a:bodyPr>
          <a:lstStyle/>
          <a:p>
            <a:pPr algn="ctr">
              <a:defRPr sz="1500" b="1">
                <a:solidFill>
                  <a:srgbClr val="232D3C"/>
                </a:solidFill>
                <a:latin typeface="Arial"/>
              </a:defRPr>
            </a:pPr>
            <a:r>
              <a:t>Change x</a:t>
            </a:r>
          </a:p>
        </p:txBody>
      </p:sp>
      <p:sp>
        <p:nvSpPr>
          <p:cNvPr id="15" name="TextBox 14">
            <a:extLst>
              <a:ext uri="{FF2B5EF4-FFF2-40B4-BE49-F238E27FC236}">
                <a16:creationId xmlns:a16="http://schemas.microsoft.com/office/drawing/2014/main" id="{8FDF549E-3060-4BA5-EE46-0265F54B63F1}"/>
              </a:ext>
            </a:extLst>
          </p:cNvPr>
          <p:cNvSpPr txBox="1"/>
          <p:nvPr/>
        </p:nvSpPr>
        <p:spPr>
          <a:xfrm>
            <a:off x="6446520" y="2011680"/>
            <a:ext cx="457200" cy="274320"/>
          </a:xfrm>
          <a:prstGeom prst="rect">
            <a:avLst/>
          </a:prstGeom>
          <a:noFill/>
        </p:spPr>
        <p:txBody>
          <a:bodyPr wrap="square">
            <a:spAutoFit/>
          </a:bodyPr>
          <a:lstStyle/>
          <a:p>
            <a:pPr algn="ctr">
              <a:defRPr sz="2400" b="1">
                <a:solidFill>
                  <a:srgbClr val="5F6E82"/>
                </a:solidFill>
                <a:latin typeface="Arial"/>
              </a:defRPr>
            </a:pPr>
            <a:r>
              <a:t>→</a:t>
            </a:r>
          </a:p>
        </p:txBody>
      </p:sp>
      <p:sp>
        <p:nvSpPr>
          <p:cNvPr id="16" name="Oval 15">
            <a:extLst>
              <a:ext uri="{FF2B5EF4-FFF2-40B4-BE49-F238E27FC236}">
                <a16:creationId xmlns:a16="http://schemas.microsoft.com/office/drawing/2014/main" id="{5B5DE191-750B-E35C-D01A-3DE9EED8E02A}"/>
              </a:ext>
            </a:extLst>
          </p:cNvPr>
          <p:cNvSpPr/>
          <p:nvPr/>
        </p:nvSpPr>
        <p:spPr>
          <a:xfrm>
            <a:off x="7452360" y="1828800"/>
            <a:ext cx="658368" cy="658368"/>
          </a:xfrm>
          <a:prstGeom prst="ellipse">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4</a:t>
            </a:r>
          </a:p>
        </p:txBody>
      </p:sp>
      <p:sp>
        <p:nvSpPr>
          <p:cNvPr id="17" name="TextBox 16">
            <a:extLst>
              <a:ext uri="{FF2B5EF4-FFF2-40B4-BE49-F238E27FC236}">
                <a16:creationId xmlns:a16="http://schemas.microsoft.com/office/drawing/2014/main" id="{11593F93-1836-8E9C-6248-638169C8651C}"/>
              </a:ext>
            </a:extLst>
          </p:cNvPr>
          <p:cNvSpPr txBox="1"/>
          <p:nvPr/>
        </p:nvSpPr>
        <p:spPr>
          <a:xfrm>
            <a:off x="7178040" y="2697480"/>
            <a:ext cx="1234440" cy="457200"/>
          </a:xfrm>
          <a:prstGeom prst="rect">
            <a:avLst/>
          </a:prstGeom>
          <a:noFill/>
        </p:spPr>
        <p:txBody>
          <a:bodyPr wrap="square">
            <a:spAutoFit/>
          </a:bodyPr>
          <a:lstStyle/>
          <a:p>
            <a:pPr algn="ctr">
              <a:defRPr sz="1500" b="1">
                <a:solidFill>
                  <a:srgbClr val="232D3C"/>
                </a:solidFill>
                <a:latin typeface="Arial"/>
              </a:defRPr>
            </a:pPr>
            <a:r>
              <a:t>Repaint</a:t>
            </a:r>
          </a:p>
        </p:txBody>
      </p:sp>
      <p:sp>
        <p:nvSpPr>
          <p:cNvPr id="18" name="TextBox 17">
            <a:extLst>
              <a:ext uri="{FF2B5EF4-FFF2-40B4-BE49-F238E27FC236}">
                <a16:creationId xmlns:a16="http://schemas.microsoft.com/office/drawing/2014/main" id="{5A3E4DFB-7ED3-66AD-F391-F2F08DBEFCBE}"/>
              </a:ext>
            </a:extLst>
          </p:cNvPr>
          <p:cNvSpPr txBox="1"/>
          <p:nvPr/>
        </p:nvSpPr>
        <p:spPr>
          <a:xfrm>
            <a:off x="8686800" y="2011680"/>
            <a:ext cx="457200" cy="274320"/>
          </a:xfrm>
          <a:prstGeom prst="rect">
            <a:avLst/>
          </a:prstGeom>
          <a:noFill/>
        </p:spPr>
        <p:txBody>
          <a:bodyPr wrap="square">
            <a:spAutoFit/>
          </a:bodyPr>
          <a:lstStyle/>
          <a:p>
            <a:pPr algn="ctr">
              <a:defRPr sz="2400" b="1">
                <a:solidFill>
                  <a:srgbClr val="5F6E82"/>
                </a:solidFill>
                <a:latin typeface="Arial"/>
              </a:defRPr>
            </a:pPr>
            <a:r>
              <a:t>→</a:t>
            </a:r>
          </a:p>
        </p:txBody>
      </p:sp>
      <p:sp>
        <p:nvSpPr>
          <p:cNvPr id="19" name="Oval 18">
            <a:extLst>
              <a:ext uri="{FF2B5EF4-FFF2-40B4-BE49-F238E27FC236}">
                <a16:creationId xmlns:a16="http://schemas.microsoft.com/office/drawing/2014/main" id="{D1F5E2FF-43C6-F35A-ED37-0B01388B583C}"/>
              </a:ext>
            </a:extLst>
          </p:cNvPr>
          <p:cNvSpPr/>
          <p:nvPr/>
        </p:nvSpPr>
        <p:spPr>
          <a:xfrm>
            <a:off x="9692640" y="1828800"/>
            <a:ext cx="658368" cy="658368"/>
          </a:xfrm>
          <a:prstGeom prst="ellipse">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5</a:t>
            </a:r>
          </a:p>
        </p:txBody>
      </p:sp>
      <p:sp>
        <p:nvSpPr>
          <p:cNvPr id="20" name="TextBox 19">
            <a:extLst>
              <a:ext uri="{FF2B5EF4-FFF2-40B4-BE49-F238E27FC236}">
                <a16:creationId xmlns:a16="http://schemas.microsoft.com/office/drawing/2014/main" id="{BDE9DB8C-8117-9A31-3691-2B3FA571F933}"/>
              </a:ext>
            </a:extLst>
          </p:cNvPr>
          <p:cNvSpPr txBox="1"/>
          <p:nvPr/>
        </p:nvSpPr>
        <p:spPr>
          <a:xfrm>
            <a:off x="9418320" y="2697480"/>
            <a:ext cx="1234440" cy="457200"/>
          </a:xfrm>
          <a:prstGeom prst="rect">
            <a:avLst/>
          </a:prstGeom>
          <a:noFill/>
        </p:spPr>
        <p:txBody>
          <a:bodyPr wrap="square">
            <a:spAutoFit/>
          </a:bodyPr>
          <a:lstStyle/>
          <a:p>
            <a:pPr algn="ctr">
              <a:defRPr sz="1500" b="1">
                <a:solidFill>
                  <a:srgbClr val="232D3C"/>
                </a:solidFill>
                <a:latin typeface="Arial"/>
              </a:defRPr>
            </a:pPr>
            <a:r>
              <a:t>Repeat</a:t>
            </a:r>
          </a:p>
        </p:txBody>
      </p:sp>
      <p:sp>
        <p:nvSpPr>
          <p:cNvPr id="21" name="Rounded Rectangle 20">
            <a:extLst>
              <a:ext uri="{FF2B5EF4-FFF2-40B4-BE49-F238E27FC236}">
                <a16:creationId xmlns:a16="http://schemas.microsoft.com/office/drawing/2014/main" id="{36837F00-B618-E82A-764A-8BC72CEB4AC1}"/>
              </a:ext>
            </a:extLst>
          </p:cNvPr>
          <p:cNvSpPr/>
          <p:nvPr/>
        </p:nvSpPr>
        <p:spPr>
          <a:xfrm>
            <a:off x="2834640" y="4160520"/>
            <a:ext cx="6492240" cy="105156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0F5E20A-692E-0DEC-1FCE-5D68ACACA6A7}"/>
              </a:ext>
            </a:extLst>
          </p:cNvPr>
          <p:cNvSpPr txBox="1"/>
          <p:nvPr/>
        </p:nvSpPr>
        <p:spPr>
          <a:xfrm>
            <a:off x="3035808" y="4325112"/>
            <a:ext cx="6126479" cy="292608"/>
          </a:xfrm>
          <a:prstGeom prst="rect">
            <a:avLst/>
          </a:prstGeom>
          <a:noFill/>
        </p:spPr>
        <p:txBody>
          <a:bodyPr wrap="square">
            <a:spAutoFit/>
          </a:bodyPr>
          <a:lstStyle/>
          <a:p>
            <a:pPr>
              <a:defRPr sz="1600" b="1">
                <a:solidFill>
                  <a:srgbClr val="14305C"/>
                </a:solidFill>
                <a:latin typeface="Arial"/>
              </a:defRPr>
            </a:pPr>
            <a:r>
              <a:t>Result</a:t>
            </a:r>
          </a:p>
        </p:txBody>
      </p:sp>
      <p:sp>
        <p:nvSpPr>
          <p:cNvPr id="23" name="TextBox 22">
            <a:extLst>
              <a:ext uri="{FF2B5EF4-FFF2-40B4-BE49-F238E27FC236}">
                <a16:creationId xmlns:a16="http://schemas.microsoft.com/office/drawing/2014/main" id="{A2FC1184-EC22-0316-E4C3-91830015916F}"/>
              </a:ext>
            </a:extLst>
          </p:cNvPr>
          <p:cNvSpPr txBox="1"/>
          <p:nvPr/>
        </p:nvSpPr>
        <p:spPr>
          <a:xfrm>
            <a:off x="3035808" y="4727448"/>
            <a:ext cx="6126479" cy="393191"/>
          </a:xfrm>
          <a:prstGeom prst="rect">
            <a:avLst/>
          </a:prstGeom>
          <a:noFill/>
        </p:spPr>
        <p:txBody>
          <a:bodyPr wrap="square">
            <a:spAutoFit/>
          </a:bodyPr>
          <a:lstStyle/>
          <a:p>
            <a:pPr>
              <a:defRPr sz="1400" b="0">
                <a:solidFill>
                  <a:srgbClr val="232D3C"/>
                </a:solidFill>
                <a:latin typeface="Arial"/>
              </a:defRPr>
            </a:pPr>
            <a:r>
              <a:t>The ball looks like it is moving because its position changes very fast.</a:t>
            </a:r>
          </a:p>
        </p:txBody>
      </p:sp>
    </p:spTree>
    <p:extLst>
      <p:ext uri="{BB962C8B-B14F-4D97-AF65-F5344CB8AC3E}">
        <p14:creationId xmlns:p14="http://schemas.microsoft.com/office/powerpoint/2010/main" val="1487671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5. Graphics Used</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2</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6</a:t>
            </a:r>
          </a:p>
        </p:txBody>
      </p:sp>
      <p:sp>
        <p:nvSpPr>
          <p:cNvPr id="7" name="TextBox 6"/>
          <p:cNvSpPr txBox="1"/>
          <p:nvPr/>
        </p:nvSpPr>
        <p:spPr>
          <a:xfrm>
            <a:off x="822960" y="1417320"/>
            <a:ext cx="5760720" cy="3840480"/>
          </a:xfrm>
          <a:prstGeom prst="rect">
            <a:avLst/>
          </a:prstGeom>
          <a:noFill/>
        </p:spPr>
        <p:txBody>
          <a:bodyPr wrap="square">
            <a:spAutoFit/>
          </a:bodyPr>
          <a:lstStyle/>
          <a:p>
            <a:pPr>
              <a:spcAft>
                <a:spcPts val="1300"/>
              </a:spcAft>
              <a:defRPr sz="2000">
                <a:solidFill>
                  <a:srgbClr val="232D3C"/>
                </a:solidFill>
                <a:latin typeface="Arial"/>
              </a:defRPr>
            </a:pPr>
            <a:r>
              <a:t>Graphics draws the ball.</a:t>
            </a:r>
          </a:p>
          <a:p>
            <a:pPr>
              <a:spcAft>
                <a:spcPts val="1300"/>
              </a:spcAft>
              <a:defRPr sz="2000">
                <a:solidFill>
                  <a:srgbClr val="232D3C"/>
                </a:solidFill>
                <a:latin typeface="Arial"/>
              </a:defRPr>
            </a:pPr>
            <a:r>
              <a:t>Color makes the ball blue.</a:t>
            </a:r>
          </a:p>
          <a:p>
            <a:pPr>
              <a:spcAft>
                <a:spcPts val="1300"/>
              </a:spcAft>
              <a:defRPr sz="2000">
                <a:solidFill>
                  <a:srgbClr val="232D3C"/>
                </a:solidFill>
                <a:latin typeface="Arial"/>
              </a:defRPr>
            </a:pPr>
            <a:r>
              <a:t>x and y show the ball's position.</a:t>
            </a:r>
          </a:p>
          <a:p>
            <a:pPr>
              <a:spcAft>
                <a:spcPts val="1300"/>
              </a:spcAft>
              <a:defRPr sz="2000">
                <a:solidFill>
                  <a:srgbClr val="232D3C"/>
                </a:solidFill>
                <a:latin typeface="Arial"/>
              </a:defRPr>
            </a:pPr>
            <a:r>
              <a:t>Timer updates the movement.</a:t>
            </a:r>
          </a:p>
          <a:p>
            <a:pPr>
              <a:spcAft>
                <a:spcPts val="1300"/>
              </a:spcAft>
              <a:defRPr sz="2000">
                <a:solidFill>
                  <a:srgbClr val="232D3C"/>
                </a:solidFill>
                <a:latin typeface="Arial"/>
              </a:defRPr>
            </a:pPr>
            <a:r>
              <a:t>repaint() asks Java to draw again.</a:t>
            </a:r>
          </a:p>
        </p:txBody>
      </p:sp>
      <p:sp>
        <p:nvSpPr>
          <p:cNvPr id="8" name="Rounded Rectangle 7"/>
          <p:cNvSpPr/>
          <p:nvPr/>
        </p:nvSpPr>
        <p:spPr>
          <a:xfrm>
            <a:off x="7040880" y="2148840"/>
            <a:ext cx="3840480" cy="123444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42048" y="2313432"/>
            <a:ext cx="3474720" cy="292608"/>
          </a:xfrm>
          <a:prstGeom prst="rect">
            <a:avLst/>
          </a:prstGeom>
          <a:noFill/>
        </p:spPr>
        <p:txBody>
          <a:bodyPr wrap="square">
            <a:spAutoFit/>
          </a:bodyPr>
          <a:lstStyle/>
          <a:p>
            <a:pPr>
              <a:defRPr sz="1600" b="1">
                <a:solidFill>
                  <a:srgbClr val="14305C"/>
                </a:solidFill>
                <a:latin typeface="Arial"/>
              </a:defRPr>
            </a:pPr>
            <a:r>
              <a:t>Our example</a:t>
            </a:r>
          </a:p>
        </p:txBody>
      </p:sp>
      <p:sp>
        <p:nvSpPr>
          <p:cNvPr id="10" name="TextBox 9"/>
          <p:cNvSpPr txBox="1"/>
          <p:nvPr/>
        </p:nvSpPr>
        <p:spPr>
          <a:xfrm>
            <a:off x="7242048" y="2715768"/>
            <a:ext cx="3474720" cy="576072"/>
          </a:xfrm>
          <a:prstGeom prst="rect">
            <a:avLst/>
          </a:prstGeom>
          <a:noFill/>
        </p:spPr>
        <p:txBody>
          <a:bodyPr wrap="square">
            <a:spAutoFit/>
          </a:bodyPr>
          <a:lstStyle/>
          <a:p>
            <a:pPr>
              <a:defRPr sz="1400" b="0">
                <a:solidFill>
                  <a:srgbClr val="232D3C"/>
                </a:solidFill>
                <a:latin typeface="Arial"/>
              </a:defRPr>
            </a:pPr>
            <a:r>
              <a:t>A blue ball moving from left to right</a:t>
            </a:r>
          </a:p>
        </p:txBody>
      </p:sp>
      <p:sp>
        <p:nvSpPr>
          <p:cNvPr id="11" name="TextBox 10"/>
          <p:cNvSpPr txBox="1"/>
          <p:nvPr/>
        </p:nvSpPr>
        <p:spPr>
          <a:xfrm>
            <a:off x="6903720" y="4160520"/>
            <a:ext cx="4114800" cy="640080"/>
          </a:xfrm>
          <a:prstGeom prst="rect">
            <a:avLst/>
          </a:prstGeom>
          <a:noFill/>
        </p:spPr>
        <p:txBody>
          <a:bodyPr wrap="square">
            <a:spAutoFit/>
          </a:bodyPr>
          <a:lstStyle/>
          <a:p>
            <a:pPr algn="ctr">
              <a:defRPr sz="1800" b="1">
                <a:solidFill>
                  <a:srgbClr val="317BC4"/>
                </a:solidFill>
                <a:latin typeface="Arial"/>
              </a:defRPr>
            </a:pPr>
            <a:r>
              <a:t>Simple idea, but it teaches the base of animation.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8. What is Freelancing?</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3</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9</a:t>
            </a:r>
          </a:p>
        </p:txBody>
      </p:sp>
      <p:sp>
        <p:nvSpPr>
          <p:cNvPr id="7" name="TextBox 6"/>
          <p:cNvSpPr txBox="1"/>
          <p:nvPr/>
        </p:nvSpPr>
        <p:spPr>
          <a:xfrm>
            <a:off x="822960" y="1463040"/>
            <a:ext cx="5760720" cy="3200400"/>
          </a:xfrm>
          <a:prstGeom prst="rect">
            <a:avLst/>
          </a:prstGeom>
          <a:noFill/>
        </p:spPr>
        <p:txBody>
          <a:bodyPr wrap="square">
            <a:spAutoFit/>
          </a:bodyPr>
          <a:lstStyle/>
          <a:p>
            <a:pPr>
              <a:spcAft>
                <a:spcPts val="1300"/>
              </a:spcAft>
              <a:defRPr sz="2100">
                <a:solidFill>
                  <a:srgbClr val="232D3C"/>
                </a:solidFill>
                <a:latin typeface="Arial"/>
              </a:defRPr>
            </a:pPr>
            <a:r>
              <a:t>Freelancing means working independently for clients.</a:t>
            </a:r>
          </a:p>
          <a:p>
            <a:pPr>
              <a:spcAft>
                <a:spcPts val="1300"/>
              </a:spcAft>
              <a:defRPr sz="2100">
                <a:solidFill>
                  <a:srgbClr val="232D3C"/>
                </a:solidFill>
                <a:latin typeface="Arial"/>
              </a:defRPr>
            </a:pPr>
            <a:r>
              <a:t>A freelancer works on projects instead of one permanent job.</a:t>
            </a:r>
          </a:p>
          <a:p>
            <a:pPr>
              <a:spcAft>
                <a:spcPts val="1300"/>
              </a:spcAft>
              <a:defRPr sz="2100">
                <a:solidFill>
                  <a:srgbClr val="232D3C"/>
                </a:solidFill>
                <a:latin typeface="Arial"/>
              </a:defRPr>
            </a:pPr>
            <a:r>
              <a:t>Payment can be hourly or project-based.</a:t>
            </a:r>
          </a:p>
          <a:p>
            <a:pPr>
              <a:spcAft>
                <a:spcPts val="1300"/>
              </a:spcAft>
              <a:defRPr sz="2100">
                <a:solidFill>
                  <a:srgbClr val="232D3C"/>
                </a:solidFill>
                <a:latin typeface="Arial"/>
              </a:defRPr>
            </a:pPr>
            <a:r>
              <a:t>Good communication is important.</a:t>
            </a:r>
          </a:p>
        </p:txBody>
      </p:sp>
      <p:sp>
        <p:nvSpPr>
          <p:cNvPr id="8" name="Rounded Rectangle 7"/>
          <p:cNvSpPr/>
          <p:nvPr/>
        </p:nvSpPr>
        <p:spPr>
          <a:xfrm>
            <a:off x="6949440" y="2057400"/>
            <a:ext cx="4023360" cy="137160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50607" y="2221992"/>
            <a:ext cx="3657600" cy="292608"/>
          </a:xfrm>
          <a:prstGeom prst="rect">
            <a:avLst/>
          </a:prstGeom>
          <a:noFill/>
        </p:spPr>
        <p:txBody>
          <a:bodyPr wrap="square">
            <a:spAutoFit/>
          </a:bodyPr>
          <a:lstStyle/>
          <a:p>
            <a:pPr>
              <a:defRPr sz="1600" b="1">
                <a:solidFill>
                  <a:srgbClr val="14305C"/>
                </a:solidFill>
                <a:latin typeface="Arial"/>
              </a:defRPr>
            </a:pPr>
            <a:r>
              <a:t>Example</a:t>
            </a:r>
          </a:p>
        </p:txBody>
      </p:sp>
      <p:sp>
        <p:nvSpPr>
          <p:cNvPr id="10" name="TextBox 9"/>
          <p:cNvSpPr txBox="1"/>
          <p:nvPr/>
        </p:nvSpPr>
        <p:spPr>
          <a:xfrm>
            <a:off x="7150607" y="2624328"/>
            <a:ext cx="3657600" cy="713232"/>
          </a:xfrm>
          <a:prstGeom prst="rect">
            <a:avLst/>
          </a:prstGeom>
          <a:noFill/>
        </p:spPr>
        <p:txBody>
          <a:bodyPr wrap="square">
            <a:spAutoFit/>
          </a:bodyPr>
          <a:lstStyle/>
          <a:p>
            <a:pPr>
              <a:defRPr sz="1400" b="0">
                <a:solidFill>
                  <a:srgbClr val="232D3C"/>
                </a:solidFill>
                <a:latin typeface="Arial"/>
              </a:defRPr>
            </a:pPr>
            <a:r>
              <a:t>A client asks us to make a small Java educational animation.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9. Java Freelancing Opportunities</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3</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10</a:t>
            </a:r>
          </a:p>
        </p:txBody>
      </p:sp>
      <p:sp>
        <p:nvSpPr>
          <p:cNvPr id="7" name="TextBox 6"/>
          <p:cNvSpPr txBox="1"/>
          <p:nvPr/>
        </p:nvSpPr>
        <p:spPr>
          <a:xfrm>
            <a:off x="822960" y="1417320"/>
            <a:ext cx="5669280" cy="3931920"/>
          </a:xfrm>
          <a:prstGeom prst="rect">
            <a:avLst/>
          </a:prstGeom>
          <a:noFill/>
        </p:spPr>
        <p:txBody>
          <a:bodyPr wrap="square">
            <a:spAutoFit/>
          </a:bodyPr>
          <a:lstStyle/>
          <a:p>
            <a:pPr>
              <a:spcAft>
                <a:spcPts val="1300"/>
              </a:spcAft>
              <a:defRPr sz="2100">
                <a:solidFill>
                  <a:srgbClr val="232D3C"/>
                </a:solidFill>
                <a:latin typeface="Arial"/>
              </a:defRPr>
            </a:pPr>
            <a:r>
              <a:t>Simple Java games</a:t>
            </a:r>
          </a:p>
          <a:p>
            <a:pPr>
              <a:spcAft>
                <a:spcPts val="1300"/>
              </a:spcAft>
              <a:defRPr sz="2100">
                <a:solidFill>
                  <a:srgbClr val="232D3C"/>
                </a:solidFill>
                <a:latin typeface="Arial"/>
              </a:defRPr>
            </a:pPr>
            <a:r>
              <a:t>Educational applications</a:t>
            </a:r>
          </a:p>
          <a:p>
            <a:pPr>
              <a:spcAft>
                <a:spcPts val="1300"/>
              </a:spcAft>
              <a:defRPr sz="2100">
                <a:solidFill>
                  <a:srgbClr val="232D3C"/>
                </a:solidFill>
                <a:latin typeface="Arial"/>
              </a:defRPr>
            </a:pPr>
            <a:r>
              <a:t>Desktop GUI software</a:t>
            </a:r>
          </a:p>
          <a:p>
            <a:pPr>
              <a:spcAft>
                <a:spcPts val="1300"/>
              </a:spcAft>
              <a:defRPr sz="2100">
                <a:solidFill>
                  <a:srgbClr val="232D3C"/>
                </a:solidFill>
                <a:latin typeface="Arial"/>
              </a:defRPr>
            </a:pPr>
            <a:r>
              <a:t>Simulations and visualizations</a:t>
            </a:r>
          </a:p>
          <a:p>
            <a:pPr>
              <a:spcAft>
                <a:spcPts val="1300"/>
              </a:spcAft>
              <a:defRPr sz="2100">
                <a:solidFill>
                  <a:srgbClr val="232D3C"/>
                </a:solidFill>
                <a:latin typeface="Arial"/>
              </a:defRPr>
            </a:pPr>
            <a:r>
              <a:t>JavaFX applications</a:t>
            </a:r>
          </a:p>
        </p:txBody>
      </p:sp>
      <p:sp>
        <p:nvSpPr>
          <p:cNvPr id="8" name="Rounded Rectangle 7"/>
          <p:cNvSpPr/>
          <p:nvPr/>
        </p:nvSpPr>
        <p:spPr>
          <a:xfrm>
            <a:off x="6949440" y="2194560"/>
            <a:ext cx="4023360" cy="1371600"/>
          </a:xfrm>
          <a:prstGeom prst="roundRect">
            <a:avLst/>
          </a:prstGeom>
          <a:solidFill>
            <a:srgbClr val="FFF7D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50607" y="2359152"/>
            <a:ext cx="3657600" cy="292608"/>
          </a:xfrm>
          <a:prstGeom prst="rect">
            <a:avLst/>
          </a:prstGeom>
          <a:noFill/>
        </p:spPr>
        <p:txBody>
          <a:bodyPr wrap="square">
            <a:spAutoFit/>
          </a:bodyPr>
          <a:lstStyle/>
          <a:p>
            <a:pPr>
              <a:defRPr sz="1600" b="1">
                <a:solidFill>
                  <a:srgbClr val="14305C"/>
                </a:solidFill>
                <a:latin typeface="Arial"/>
              </a:defRPr>
            </a:pPr>
            <a:r>
              <a:t>Remember</a:t>
            </a:r>
          </a:p>
        </p:txBody>
      </p:sp>
      <p:sp>
        <p:nvSpPr>
          <p:cNvPr id="10" name="TextBox 9"/>
          <p:cNvSpPr txBox="1"/>
          <p:nvPr/>
        </p:nvSpPr>
        <p:spPr>
          <a:xfrm>
            <a:off x="7150607" y="2761488"/>
            <a:ext cx="3657600" cy="713232"/>
          </a:xfrm>
          <a:prstGeom prst="rect">
            <a:avLst/>
          </a:prstGeom>
          <a:noFill/>
        </p:spPr>
        <p:txBody>
          <a:bodyPr wrap="square">
            <a:spAutoFit/>
          </a:bodyPr>
          <a:lstStyle/>
          <a:p>
            <a:pPr>
              <a:defRPr sz="1400" b="0">
                <a:solidFill>
                  <a:srgbClr val="232D3C"/>
                </a:solidFill>
                <a:latin typeface="Arial"/>
              </a:defRPr>
            </a:pPr>
            <a:r>
              <a:t>Clients usually want a complete project, not only an animation.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10. Finding Clients</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3</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11</a:t>
            </a:r>
          </a:p>
        </p:txBody>
      </p:sp>
      <p:sp>
        <p:nvSpPr>
          <p:cNvPr id="7" name="Rounded Rectangle 6"/>
          <p:cNvSpPr/>
          <p:nvPr/>
        </p:nvSpPr>
        <p:spPr>
          <a:xfrm>
            <a:off x="822960" y="1417320"/>
            <a:ext cx="5120640" cy="123444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581912"/>
            <a:ext cx="4754879" cy="292608"/>
          </a:xfrm>
          <a:prstGeom prst="rect">
            <a:avLst/>
          </a:prstGeom>
          <a:noFill/>
        </p:spPr>
        <p:txBody>
          <a:bodyPr wrap="square">
            <a:spAutoFit/>
          </a:bodyPr>
          <a:lstStyle/>
          <a:p>
            <a:pPr>
              <a:defRPr sz="1600" b="1">
                <a:solidFill>
                  <a:srgbClr val="14305C"/>
                </a:solidFill>
                <a:latin typeface="Arial"/>
              </a:defRPr>
            </a:pPr>
            <a:r>
              <a:t>Platforms</a:t>
            </a:r>
          </a:p>
        </p:txBody>
      </p:sp>
      <p:sp>
        <p:nvSpPr>
          <p:cNvPr id="9" name="TextBox 8"/>
          <p:cNvSpPr txBox="1"/>
          <p:nvPr/>
        </p:nvSpPr>
        <p:spPr>
          <a:xfrm>
            <a:off x="1024128" y="1984248"/>
            <a:ext cx="4754879" cy="576072"/>
          </a:xfrm>
          <a:prstGeom prst="rect">
            <a:avLst/>
          </a:prstGeom>
          <a:noFill/>
        </p:spPr>
        <p:txBody>
          <a:bodyPr wrap="square">
            <a:spAutoFit/>
          </a:bodyPr>
          <a:lstStyle/>
          <a:p>
            <a:pPr>
              <a:defRPr sz="1400" b="0">
                <a:solidFill>
                  <a:srgbClr val="232D3C"/>
                </a:solidFill>
                <a:latin typeface="Arial"/>
              </a:defRPr>
            </a:pPr>
            <a:r>
              <a:t>Upwork • Fiverr • Freelancer • LinkedIn</a:t>
            </a:r>
          </a:p>
        </p:txBody>
      </p:sp>
      <p:sp>
        <p:nvSpPr>
          <p:cNvPr id="10" name="Rounded Rectangle 9"/>
          <p:cNvSpPr/>
          <p:nvPr/>
        </p:nvSpPr>
        <p:spPr>
          <a:xfrm>
            <a:off x="822960" y="3063240"/>
            <a:ext cx="5120640" cy="123444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3227832"/>
            <a:ext cx="4754879" cy="292608"/>
          </a:xfrm>
          <a:prstGeom prst="rect">
            <a:avLst/>
          </a:prstGeom>
          <a:noFill/>
        </p:spPr>
        <p:txBody>
          <a:bodyPr wrap="square">
            <a:spAutoFit/>
          </a:bodyPr>
          <a:lstStyle/>
          <a:p>
            <a:pPr>
              <a:defRPr sz="1600" b="1">
                <a:solidFill>
                  <a:srgbClr val="14305C"/>
                </a:solidFill>
                <a:latin typeface="Arial"/>
              </a:defRPr>
            </a:pPr>
            <a:r>
              <a:t>Other ways</a:t>
            </a:r>
          </a:p>
        </p:txBody>
      </p:sp>
      <p:sp>
        <p:nvSpPr>
          <p:cNvPr id="12" name="TextBox 11"/>
          <p:cNvSpPr txBox="1"/>
          <p:nvPr/>
        </p:nvSpPr>
        <p:spPr>
          <a:xfrm>
            <a:off x="1024128" y="3630168"/>
            <a:ext cx="4754879" cy="576072"/>
          </a:xfrm>
          <a:prstGeom prst="rect">
            <a:avLst/>
          </a:prstGeom>
          <a:noFill/>
        </p:spPr>
        <p:txBody>
          <a:bodyPr wrap="square">
            <a:spAutoFit/>
          </a:bodyPr>
          <a:lstStyle/>
          <a:p>
            <a:pPr>
              <a:defRPr sz="1400" b="0">
                <a:solidFill>
                  <a:srgbClr val="232D3C"/>
                </a:solidFill>
                <a:latin typeface="Arial"/>
              </a:defRPr>
            </a:pPr>
            <a:r>
              <a:t>Local businesses, college contacts and direct clients</a:t>
            </a:r>
          </a:p>
        </p:txBody>
      </p:sp>
      <p:sp>
        <p:nvSpPr>
          <p:cNvPr id="13" name="TextBox 12"/>
          <p:cNvSpPr txBox="1"/>
          <p:nvPr/>
        </p:nvSpPr>
        <p:spPr>
          <a:xfrm>
            <a:off x="6720840" y="2057400"/>
            <a:ext cx="4023360" cy="594360"/>
          </a:xfrm>
          <a:prstGeom prst="rect">
            <a:avLst/>
          </a:prstGeom>
          <a:noFill/>
        </p:spPr>
        <p:txBody>
          <a:bodyPr wrap="square">
            <a:spAutoFit/>
          </a:bodyPr>
          <a:lstStyle/>
          <a:p>
            <a:pPr algn="ctr">
              <a:defRPr sz="2300" b="1">
                <a:solidFill>
                  <a:srgbClr val="317BC4"/>
                </a:solidFill>
                <a:latin typeface="Arial"/>
              </a:defRPr>
            </a:pPr>
            <a:r>
              <a:t>A portfolio helps clients see our work.</a:t>
            </a:r>
          </a:p>
        </p:txBody>
      </p:sp>
      <p:sp>
        <p:nvSpPr>
          <p:cNvPr id="14" name="TextBox 13"/>
          <p:cNvSpPr txBox="1"/>
          <p:nvPr/>
        </p:nvSpPr>
        <p:spPr>
          <a:xfrm>
            <a:off x="6720840" y="3200400"/>
            <a:ext cx="4023360" cy="640080"/>
          </a:xfrm>
          <a:prstGeom prst="rect">
            <a:avLst/>
          </a:prstGeom>
          <a:noFill/>
        </p:spPr>
        <p:txBody>
          <a:bodyPr wrap="square">
            <a:spAutoFit/>
          </a:bodyPr>
          <a:lstStyle/>
          <a:p>
            <a:pPr algn="ctr">
              <a:defRPr sz="1800" b="0">
                <a:solidFill>
                  <a:srgbClr val="5F6E82"/>
                </a:solidFill>
                <a:latin typeface="Arial"/>
              </a:defRPr>
            </a:pPr>
            <a:r>
              <a:t>Start with small projects and improve step by step.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11. Freelancing Steps</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3</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12</a:t>
            </a:r>
          </a:p>
        </p:txBody>
      </p:sp>
      <p:sp>
        <p:nvSpPr>
          <p:cNvPr id="7" name="Rounded Rectangle 6"/>
          <p:cNvSpPr/>
          <p:nvPr/>
        </p:nvSpPr>
        <p:spPr>
          <a:xfrm>
            <a:off x="502920" y="2011680"/>
            <a:ext cx="1280160" cy="777240"/>
          </a:xfrm>
          <a:prstGeom prst="roundRect">
            <a:avLst/>
          </a:prstGeom>
          <a:solidFill>
            <a:srgbClr val="DCEFFC"/>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Learn</a:t>
            </a:r>
          </a:p>
        </p:txBody>
      </p:sp>
      <p:sp>
        <p:nvSpPr>
          <p:cNvPr id="8" name="TextBox 7"/>
          <p:cNvSpPr txBox="1"/>
          <p:nvPr/>
        </p:nvSpPr>
        <p:spPr>
          <a:xfrm>
            <a:off x="1810512"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9" name="Rounded Rectangle 8"/>
          <p:cNvSpPr/>
          <p:nvPr/>
        </p:nvSpPr>
        <p:spPr>
          <a:xfrm>
            <a:off x="2130552" y="2011680"/>
            <a:ext cx="1280160" cy="777240"/>
          </a:xfrm>
          <a:prstGeom prst="roundRect">
            <a:avLst/>
          </a:prstGeom>
          <a:solidFill>
            <a:srgbClr val="F0F8EB"/>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Make projects</a:t>
            </a:r>
          </a:p>
        </p:txBody>
      </p:sp>
      <p:sp>
        <p:nvSpPr>
          <p:cNvPr id="10" name="TextBox 9"/>
          <p:cNvSpPr txBox="1"/>
          <p:nvPr/>
        </p:nvSpPr>
        <p:spPr>
          <a:xfrm>
            <a:off x="3438144"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11" name="Rounded Rectangle 10"/>
          <p:cNvSpPr/>
          <p:nvPr/>
        </p:nvSpPr>
        <p:spPr>
          <a:xfrm>
            <a:off x="3758184" y="2011680"/>
            <a:ext cx="1280160" cy="777240"/>
          </a:xfrm>
          <a:prstGeom prst="roundRect">
            <a:avLst/>
          </a:prstGeom>
          <a:solidFill>
            <a:srgbClr val="FFF7DC"/>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Create portfolio</a:t>
            </a:r>
          </a:p>
        </p:txBody>
      </p:sp>
      <p:sp>
        <p:nvSpPr>
          <p:cNvPr id="12" name="TextBox 11"/>
          <p:cNvSpPr txBox="1"/>
          <p:nvPr/>
        </p:nvSpPr>
        <p:spPr>
          <a:xfrm>
            <a:off x="5065776"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13" name="Rounded Rectangle 12"/>
          <p:cNvSpPr/>
          <p:nvPr/>
        </p:nvSpPr>
        <p:spPr>
          <a:xfrm>
            <a:off x="5385816" y="2011680"/>
            <a:ext cx="1280160" cy="777240"/>
          </a:xfrm>
          <a:prstGeom prst="roundRect">
            <a:avLst/>
          </a:prstGeom>
          <a:solidFill>
            <a:srgbClr val="DCEFFC"/>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Find client</a:t>
            </a:r>
          </a:p>
        </p:txBody>
      </p:sp>
      <p:sp>
        <p:nvSpPr>
          <p:cNvPr id="14" name="TextBox 13"/>
          <p:cNvSpPr txBox="1"/>
          <p:nvPr/>
        </p:nvSpPr>
        <p:spPr>
          <a:xfrm>
            <a:off x="6693407"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15" name="Rounded Rectangle 14"/>
          <p:cNvSpPr/>
          <p:nvPr/>
        </p:nvSpPr>
        <p:spPr>
          <a:xfrm>
            <a:off x="7013448" y="2011680"/>
            <a:ext cx="1280160" cy="777240"/>
          </a:xfrm>
          <a:prstGeom prst="roundRect">
            <a:avLst/>
          </a:prstGeom>
          <a:solidFill>
            <a:srgbClr val="F0F8EB"/>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Discuss work</a:t>
            </a:r>
          </a:p>
        </p:txBody>
      </p:sp>
      <p:sp>
        <p:nvSpPr>
          <p:cNvPr id="16" name="TextBox 15"/>
          <p:cNvSpPr txBox="1"/>
          <p:nvPr/>
        </p:nvSpPr>
        <p:spPr>
          <a:xfrm>
            <a:off x="8321040"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17" name="Rounded Rectangle 16"/>
          <p:cNvSpPr/>
          <p:nvPr/>
        </p:nvSpPr>
        <p:spPr>
          <a:xfrm>
            <a:off x="8641080" y="2011680"/>
            <a:ext cx="1280160" cy="777240"/>
          </a:xfrm>
          <a:prstGeom prst="roundRect">
            <a:avLst/>
          </a:prstGeom>
          <a:solidFill>
            <a:srgbClr val="FFF7DC"/>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Build + test</a:t>
            </a:r>
          </a:p>
        </p:txBody>
      </p:sp>
      <p:sp>
        <p:nvSpPr>
          <p:cNvPr id="18" name="TextBox 17"/>
          <p:cNvSpPr txBox="1"/>
          <p:nvPr/>
        </p:nvSpPr>
        <p:spPr>
          <a:xfrm>
            <a:off x="9948672" y="2267712"/>
            <a:ext cx="228600" cy="228600"/>
          </a:xfrm>
          <a:prstGeom prst="rect">
            <a:avLst/>
          </a:prstGeom>
          <a:noFill/>
        </p:spPr>
        <p:txBody>
          <a:bodyPr wrap="square">
            <a:spAutoFit/>
          </a:bodyPr>
          <a:lstStyle/>
          <a:p>
            <a:pPr algn="ctr">
              <a:defRPr sz="1800" b="1">
                <a:solidFill>
                  <a:srgbClr val="5F6E82"/>
                </a:solidFill>
                <a:latin typeface="Arial"/>
              </a:defRPr>
            </a:pPr>
            <a:r>
              <a:t>→</a:t>
            </a:r>
          </a:p>
        </p:txBody>
      </p:sp>
      <p:sp>
        <p:nvSpPr>
          <p:cNvPr id="19" name="Rounded Rectangle 18"/>
          <p:cNvSpPr/>
          <p:nvPr/>
        </p:nvSpPr>
        <p:spPr>
          <a:xfrm>
            <a:off x="10268712" y="2011680"/>
            <a:ext cx="1280160" cy="777240"/>
          </a:xfrm>
          <a:prstGeom prst="roundRect">
            <a:avLst/>
          </a:prstGeom>
          <a:solidFill>
            <a:srgbClr val="DCEFFC"/>
          </a:solidFill>
          <a:ln>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305C"/>
                </a:solidFill>
                <a:latin typeface="Arial"/>
              </a:defRPr>
            </a:pPr>
            <a:r>
              <a:t>Deliver</a:t>
            </a:r>
          </a:p>
        </p:txBody>
      </p:sp>
      <p:sp>
        <p:nvSpPr>
          <p:cNvPr id="20" name="TextBox 19"/>
          <p:cNvSpPr txBox="1"/>
          <p:nvPr/>
        </p:nvSpPr>
        <p:spPr>
          <a:xfrm>
            <a:off x="1188720" y="4251960"/>
            <a:ext cx="9784080" cy="548640"/>
          </a:xfrm>
          <a:prstGeom prst="rect">
            <a:avLst/>
          </a:prstGeom>
          <a:noFill/>
        </p:spPr>
        <p:txBody>
          <a:bodyPr wrap="square">
            <a:spAutoFit/>
          </a:bodyPr>
          <a:lstStyle/>
          <a:p>
            <a:pPr algn="ctr">
              <a:defRPr sz="2100" b="1">
                <a:solidFill>
                  <a:srgbClr val="14305C"/>
                </a:solidFill>
                <a:latin typeface="Arial"/>
              </a:defRPr>
            </a:pPr>
            <a:r>
              <a:t>Clear requirements + regular updates = better client experience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12. Skills We Need</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4</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13</a:t>
            </a:r>
          </a:p>
        </p:txBody>
      </p:sp>
      <p:sp>
        <p:nvSpPr>
          <p:cNvPr id="7" name="Rounded Rectangle 6"/>
          <p:cNvSpPr/>
          <p:nvPr/>
        </p:nvSpPr>
        <p:spPr>
          <a:xfrm>
            <a:off x="777240" y="1417320"/>
            <a:ext cx="3383280" cy="150876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581912"/>
            <a:ext cx="3017520" cy="292608"/>
          </a:xfrm>
          <a:prstGeom prst="rect">
            <a:avLst/>
          </a:prstGeom>
          <a:noFill/>
        </p:spPr>
        <p:txBody>
          <a:bodyPr wrap="square">
            <a:spAutoFit/>
          </a:bodyPr>
          <a:lstStyle/>
          <a:p>
            <a:pPr>
              <a:defRPr sz="1600" b="1">
                <a:solidFill>
                  <a:srgbClr val="14305C"/>
                </a:solidFill>
                <a:latin typeface="Arial"/>
              </a:defRPr>
            </a:pPr>
            <a:r>
              <a:t>Technical</a:t>
            </a:r>
          </a:p>
        </p:txBody>
      </p:sp>
      <p:sp>
        <p:nvSpPr>
          <p:cNvPr id="9" name="TextBox 8"/>
          <p:cNvSpPr txBox="1"/>
          <p:nvPr/>
        </p:nvSpPr>
        <p:spPr>
          <a:xfrm>
            <a:off x="978408" y="1984248"/>
            <a:ext cx="3017520" cy="850392"/>
          </a:xfrm>
          <a:prstGeom prst="rect">
            <a:avLst/>
          </a:prstGeom>
          <a:noFill/>
        </p:spPr>
        <p:txBody>
          <a:bodyPr wrap="square">
            <a:spAutoFit/>
          </a:bodyPr>
          <a:lstStyle/>
          <a:p>
            <a:pPr>
              <a:defRPr sz="1400" b="0">
                <a:solidFill>
                  <a:srgbClr val="232D3C"/>
                </a:solidFill>
                <a:latin typeface="Arial"/>
              </a:defRPr>
            </a:pPr>
            <a:r>
              <a:t>Core Java, OOP, graphics, JavaFX, debugging and Git</a:t>
            </a:r>
          </a:p>
        </p:txBody>
      </p:sp>
      <p:sp>
        <p:nvSpPr>
          <p:cNvPr id="10" name="Rounded Rectangle 9"/>
          <p:cNvSpPr/>
          <p:nvPr/>
        </p:nvSpPr>
        <p:spPr>
          <a:xfrm>
            <a:off x="4389120" y="1417320"/>
            <a:ext cx="3383280" cy="1508760"/>
          </a:xfrm>
          <a:prstGeom prst="roundRect">
            <a:avLst/>
          </a:prstGeom>
          <a:solidFill>
            <a:srgbClr val="FFF7D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581912"/>
            <a:ext cx="3017520" cy="292608"/>
          </a:xfrm>
          <a:prstGeom prst="rect">
            <a:avLst/>
          </a:prstGeom>
          <a:noFill/>
        </p:spPr>
        <p:txBody>
          <a:bodyPr wrap="square">
            <a:spAutoFit/>
          </a:bodyPr>
          <a:lstStyle/>
          <a:p>
            <a:pPr>
              <a:defRPr sz="1600" b="1">
                <a:solidFill>
                  <a:srgbClr val="14305C"/>
                </a:solidFill>
                <a:latin typeface="Arial"/>
              </a:defRPr>
            </a:pPr>
            <a:r>
              <a:t>Creative</a:t>
            </a:r>
          </a:p>
        </p:txBody>
      </p:sp>
      <p:sp>
        <p:nvSpPr>
          <p:cNvPr id="12" name="TextBox 11"/>
          <p:cNvSpPr txBox="1"/>
          <p:nvPr/>
        </p:nvSpPr>
        <p:spPr>
          <a:xfrm>
            <a:off x="4590288" y="1984248"/>
            <a:ext cx="3017520" cy="850392"/>
          </a:xfrm>
          <a:prstGeom prst="rect">
            <a:avLst/>
          </a:prstGeom>
          <a:noFill/>
        </p:spPr>
        <p:txBody>
          <a:bodyPr wrap="square">
            <a:spAutoFit/>
          </a:bodyPr>
          <a:lstStyle/>
          <a:p>
            <a:pPr>
              <a:defRPr sz="1400" b="0">
                <a:solidFill>
                  <a:srgbClr val="232D3C"/>
                </a:solidFill>
                <a:latin typeface="Arial"/>
              </a:defRPr>
            </a:pPr>
            <a:r>
              <a:t>Timing, colors, simple design and storyboarding</a:t>
            </a:r>
          </a:p>
        </p:txBody>
      </p:sp>
      <p:sp>
        <p:nvSpPr>
          <p:cNvPr id="13" name="Rounded Rectangle 12"/>
          <p:cNvSpPr/>
          <p:nvPr/>
        </p:nvSpPr>
        <p:spPr>
          <a:xfrm>
            <a:off x="8001000" y="1417320"/>
            <a:ext cx="3383280" cy="150876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02168" y="1581912"/>
            <a:ext cx="3017520" cy="292608"/>
          </a:xfrm>
          <a:prstGeom prst="rect">
            <a:avLst/>
          </a:prstGeom>
          <a:noFill/>
        </p:spPr>
        <p:txBody>
          <a:bodyPr wrap="square">
            <a:spAutoFit/>
          </a:bodyPr>
          <a:lstStyle/>
          <a:p>
            <a:pPr>
              <a:defRPr sz="1600" b="1">
                <a:solidFill>
                  <a:srgbClr val="14305C"/>
                </a:solidFill>
                <a:latin typeface="Arial"/>
              </a:defRPr>
            </a:pPr>
            <a:r>
              <a:t>Freelancing</a:t>
            </a:r>
          </a:p>
        </p:txBody>
      </p:sp>
      <p:sp>
        <p:nvSpPr>
          <p:cNvPr id="15" name="TextBox 14"/>
          <p:cNvSpPr txBox="1"/>
          <p:nvPr/>
        </p:nvSpPr>
        <p:spPr>
          <a:xfrm>
            <a:off x="8202168" y="1984248"/>
            <a:ext cx="3017520" cy="850392"/>
          </a:xfrm>
          <a:prstGeom prst="rect">
            <a:avLst/>
          </a:prstGeom>
          <a:noFill/>
        </p:spPr>
        <p:txBody>
          <a:bodyPr wrap="square">
            <a:spAutoFit/>
          </a:bodyPr>
          <a:lstStyle/>
          <a:p>
            <a:pPr>
              <a:defRPr sz="1400" b="0">
                <a:solidFill>
                  <a:srgbClr val="232D3C"/>
                </a:solidFill>
                <a:latin typeface="Arial"/>
              </a:defRPr>
            </a:pPr>
            <a:r>
              <a:t>Communication, time management and requirement understanding</a:t>
            </a:r>
          </a:p>
        </p:txBody>
      </p:sp>
      <p:sp>
        <p:nvSpPr>
          <p:cNvPr id="16" name="TextBox 15"/>
          <p:cNvSpPr txBox="1"/>
          <p:nvPr/>
        </p:nvSpPr>
        <p:spPr>
          <a:xfrm>
            <a:off x="1097280" y="4069080"/>
            <a:ext cx="9875520" cy="502920"/>
          </a:xfrm>
          <a:prstGeom prst="rect">
            <a:avLst/>
          </a:prstGeom>
          <a:noFill/>
        </p:spPr>
        <p:txBody>
          <a:bodyPr wrap="square">
            <a:spAutoFit/>
          </a:bodyPr>
          <a:lstStyle/>
          <a:p>
            <a:pPr algn="ctr">
              <a:defRPr sz="2400" b="1">
                <a:solidFill>
                  <a:srgbClr val="317BC4"/>
                </a:solidFill>
                <a:latin typeface="Arial"/>
              </a:defRPr>
            </a:pPr>
            <a:r>
              <a:t>We do not need to know everything on day one.</a:t>
            </a:r>
          </a:p>
        </p:txBody>
      </p:sp>
      <p:sp>
        <p:nvSpPr>
          <p:cNvPr id="17" name="TextBox 16"/>
          <p:cNvSpPr txBox="1"/>
          <p:nvPr/>
        </p:nvSpPr>
        <p:spPr>
          <a:xfrm>
            <a:off x="1463040" y="4892040"/>
            <a:ext cx="9144000" cy="411480"/>
          </a:xfrm>
          <a:prstGeom prst="rect">
            <a:avLst/>
          </a:prstGeom>
          <a:noFill/>
        </p:spPr>
        <p:txBody>
          <a:bodyPr wrap="square">
            <a:spAutoFit/>
          </a:bodyPr>
          <a:lstStyle/>
          <a:p>
            <a:pPr algn="ctr">
              <a:defRPr sz="1800" b="0">
                <a:solidFill>
                  <a:srgbClr val="5F6E82"/>
                </a:solidFill>
                <a:latin typeface="Arial"/>
              </a:defRPr>
            </a:pPr>
            <a:r>
              <a:t>We can learn, practise and improve with every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38912"/>
            <a:ext cx="9601200" cy="548640"/>
          </a:xfrm>
          <a:prstGeom prst="rect">
            <a:avLst/>
          </a:prstGeom>
          <a:noFill/>
        </p:spPr>
        <p:txBody>
          <a:bodyPr wrap="square">
            <a:spAutoFit/>
          </a:bodyPr>
          <a:lstStyle/>
          <a:p>
            <a:pPr>
              <a:defRPr sz="2800" b="1">
                <a:solidFill>
                  <a:srgbClr val="14305C"/>
                </a:solidFill>
                <a:latin typeface="Arial"/>
              </a:defRPr>
            </a:pPr>
            <a:r>
              <a:t>13. Advantages and Challenges</a:t>
            </a:r>
          </a:p>
        </p:txBody>
      </p:sp>
      <p:sp>
        <p:nvSpPr>
          <p:cNvPr id="5" name="Rounded Rectangle 4"/>
          <p:cNvSpPr/>
          <p:nvPr/>
        </p:nvSpPr>
        <p:spPr>
          <a:xfrm>
            <a:off x="9829800" y="530352"/>
            <a:ext cx="1417320" cy="347472"/>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Member 4</a:t>
            </a:r>
          </a:p>
        </p:txBody>
      </p:sp>
      <p:sp>
        <p:nvSpPr>
          <p:cNvPr id="6" name="TextBox 5"/>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14</a:t>
            </a:r>
          </a:p>
        </p:txBody>
      </p:sp>
      <p:sp>
        <p:nvSpPr>
          <p:cNvPr id="7" name="Rounded Rectangle 6"/>
          <p:cNvSpPr/>
          <p:nvPr/>
        </p:nvSpPr>
        <p:spPr>
          <a:xfrm>
            <a:off x="777240" y="1417320"/>
            <a:ext cx="3429000" cy="1417320"/>
          </a:xfrm>
          <a:prstGeom prst="roundRect">
            <a:avLst/>
          </a:prstGeom>
          <a:solidFill>
            <a:srgbClr val="F0F8EB"/>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581912"/>
            <a:ext cx="3063240" cy="292608"/>
          </a:xfrm>
          <a:prstGeom prst="rect">
            <a:avLst/>
          </a:prstGeom>
          <a:noFill/>
        </p:spPr>
        <p:txBody>
          <a:bodyPr wrap="square">
            <a:spAutoFit/>
          </a:bodyPr>
          <a:lstStyle/>
          <a:p>
            <a:pPr>
              <a:defRPr sz="1600" b="1">
                <a:solidFill>
                  <a:srgbClr val="14305C"/>
                </a:solidFill>
                <a:latin typeface="Arial"/>
              </a:defRPr>
            </a:pPr>
            <a:r>
              <a:t>Advantages</a:t>
            </a:r>
          </a:p>
        </p:txBody>
      </p:sp>
      <p:sp>
        <p:nvSpPr>
          <p:cNvPr id="9" name="TextBox 8"/>
          <p:cNvSpPr txBox="1"/>
          <p:nvPr/>
        </p:nvSpPr>
        <p:spPr>
          <a:xfrm>
            <a:off x="978408" y="1984248"/>
            <a:ext cx="3063240" cy="758952"/>
          </a:xfrm>
          <a:prstGeom prst="rect">
            <a:avLst/>
          </a:prstGeom>
          <a:noFill/>
        </p:spPr>
        <p:txBody>
          <a:bodyPr wrap="square">
            <a:spAutoFit/>
          </a:bodyPr>
          <a:lstStyle/>
          <a:p>
            <a:pPr>
              <a:defRPr sz="1400" b="0">
                <a:solidFill>
                  <a:srgbClr val="232D3C"/>
                </a:solidFill>
                <a:latin typeface="Arial"/>
              </a:defRPr>
            </a:pPr>
            <a:r>
              <a:t>Flexible work • New projects • Portfolio • Work from home</a:t>
            </a:r>
          </a:p>
        </p:txBody>
      </p:sp>
      <p:sp>
        <p:nvSpPr>
          <p:cNvPr id="10" name="Rounded Rectangle 9"/>
          <p:cNvSpPr/>
          <p:nvPr/>
        </p:nvSpPr>
        <p:spPr>
          <a:xfrm>
            <a:off x="4389120" y="1417320"/>
            <a:ext cx="3429000" cy="1417320"/>
          </a:xfrm>
          <a:prstGeom prst="roundRect">
            <a:avLst/>
          </a:prstGeom>
          <a:solidFill>
            <a:srgbClr val="FFF7D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581912"/>
            <a:ext cx="3063240" cy="292608"/>
          </a:xfrm>
          <a:prstGeom prst="rect">
            <a:avLst/>
          </a:prstGeom>
          <a:noFill/>
        </p:spPr>
        <p:txBody>
          <a:bodyPr wrap="square">
            <a:spAutoFit/>
          </a:bodyPr>
          <a:lstStyle/>
          <a:p>
            <a:pPr>
              <a:defRPr sz="1600" b="1">
                <a:solidFill>
                  <a:srgbClr val="14305C"/>
                </a:solidFill>
                <a:latin typeface="Arial"/>
              </a:defRPr>
            </a:pPr>
            <a:r>
              <a:t>Challenges</a:t>
            </a:r>
          </a:p>
        </p:txBody>
      </p:sp>
      <p:sp>
        <p:nvSpPr>
          <p:cNvPr id="12" name="TextBox 11"/>
          <p:cNvSpPr txBox="1"/>
          <p:nvPr/>
        </p:nvSpPr>
        <p:spPr>
          <a:xfrm>
            <a:off x="4590288" y="1984248"/>
            <a:ext cx="3063240" cy="758952"/>
          </a:xfrm>
          <a:prstGeom prst="rect">
            <a:avLst/>
          </a:prstGeom>
          <a:noFill/>
        </p:spPr>
        <p:txBody>
          <a:bodyPr wrap="square">
            <a:spAutoFit/>
          </a:bodyPr>
          <a:lstStyle/>
          <a:p>
            <a:pPr>
              <a:defRPr sz="1400" b="0">
                <a:solidFill>
                  <a:srgbClr val="232D3C"/>
                </a:solidFill>
                <a:latin typeface="Arial"/>
              </a:defRPr>
            </a:pPr>
            <a:r>
              <a:t>Competition • Deadlines • Revisions • Finding clients</a:t>
            </a:r>
          </a:p>
        </p:txBody>
      </p:sp>
      <p:sp>
        <p:nvSpPr>
          <p:cNvPr id="13" name="Rounded Rectangle 12"/>
          <p:cNvSpPr/>
          <p:nvPr/>
        </p:nvSpPr>
        <p:spPr>
          <a:xfrm>
            <a:off x="8001000" y="1417320"/>
            <a:ext cx="3429000" cy="1417320"/>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02168" y="1581912"/>
            <a:ext cx="3063240" cy="292608"/>
          </a:xfrm>
          <a:prstGeom prst="rect">
            <a:avLst/>
          </a:prstGeom>
          <a:noFill/>
        </p:spPr>
        <p:txBody>
          <a:bodyPr wrap="square">
            <a:spAutoFit/>
          </a:bodyPr>
          <a:lstStyle/>
          <a:p>
            <a:pPr>
              <a:defRPr sz="1600" b="1">
                <a:solidFill>
                  <a:srgbClr val="14305C"/>
                </a:solidFill>
                <a:latin typeface="Arial"/>
              </a:defRPr>
            </a:pPr>
            <a:r>
              <a:t>Future scope</a:t>
            </a:r>
          </a:p>
        </p:txBody>
      </p:sp>
      <p:sp>
        <p:nvSpPr>
          <p:cNvPr id="15" name="TextBox 14"/>
          <p:cNvSpPr txBox="1"/>
          <p:nvPr/>
        </p:nvSpPr>
        <p:spPr>
          <a:xfrm>
            <a:off x="8202168" y="1984248"/>
            <a:ext cx="3063240" cy="758952"/>
          </a:xfrm>
          <a:prstGeom prst="rect">
            <a:avLst/>
          </a:prstGeom>
          <a:noFill/>
        </p:spPr>
        <p:txBody>
          <a:bodyPr wrap="square">
            <a:spAutoFit/>
          </a:bodyPr>
          <a:lstStyle/>
          <a:p>
            <a:pPr>
              <a:defRPr sz="1400" b="0">
                <a:solidFill>
                  <a:srgbClr val="232D3C"/>
                </a:solidFill>
                <a:latin typeface="Arial"/>
              </a:defRPr>
            </a:pPr>
            <a:r>
              <a:t>Games • Educational apps • Software • Simulations</a:t>
            </a:r>
          </a:p>
        </p:txBody>
      </p:sp>
      <p:sp>
        <p:nvSpPr>
          <p:cNvPr id="16" name="TextBox 15"/>
          <p:cNvSpPr txBox="1"/>
          <p:nvPr/>
        </p:nvSpPr>
        <p:spPr>
          <a:xfrm>
            <a:off x="1143000" y="3840480"/>
            <a:ext cx="9966960" cy="594360"/>
          </a:xfrm>
          <a:prstGeom prst="rect">
            <a:avLst/>
          </a:prstGeom>
          <a:noFill/>
        </p:spPr>
        <p:txBody>
          <a:bodyPr wrap="square">
            <a:spAutoFit/>
          </a:bodyPr>
          <a:lstStyle/>
          <a:p>
            <a:pPr algn="ctr">
              <a:defRPr sz="2200" b="1">
                <a:solidFill>
                  <a:srgbClr val="14305C"/>
                </a:solidFill>
                <a:latin typeface="Arial"/>
              </a:defRPr>
            </a:pPr>
            <a:r>
              <a:t>Freelancing needs patience, practice and continuous learning.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31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1475720" y="438912"/>
            <a:ext cx="320040" cy="320040"/>
          </a:xfrm>
          <a:prstGeom prst="ellipse">
            <a:avLst/>
          </a:prstGeom>
          <a:solidFill>
            <a:srgbClr val="FFDC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01400" y="6446520"/>
            <a:ext cx="411480" cy="182880"/>
          </a:xfrm>
          <a:prstGeom prst="rect">
            <a:avLst/>
          </a:prstGeom>
          <a:noFill/>
        </p:spPr>
        <p:txBody>
          <a:bodyPr wrap="square">
            <a:spAutoFit/>
          </a:bodyPr>
          <a:lstStyle/>
          <a:p>
            <a:pPr algn="r">
              <a:defRPr sz="1000" b="0">
                <a:solidFill>
                  <a:srgbClr val="5F6E82"/>
                </a:solidFill>
                <a:latin typeface="Arial"/>
              </a:defRPr>
            </a:pPr>
            <a:r>
              <a:t>15</a:t>
            </a:r>
          </a:p>
        </p:txBody>
      </p:sp>
      <p:sp>
        <p:nvSpPr>
          <p:cNvPr id="5" name="Rounded Rectangle 4"/>
          <p:cNvSpPr/>
          <p:nvPr/>
        </p:nvSpPr>
        <p:spPr>
          <a:xfrm>
            <a:off x="777240" y="777240"/>
            <a:ext cx="1417320" cy="365760"/>
          </a:xfrm>
          <a:prstGeom prst="roundRect">
            <a:avLst/>
          </a:prstGeom>
          <a:solidFill>
            <a:srgbClr val="DC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305C"/>
                </a:solidFill>
                <a:latin typeface="Arial"/>
              </a:defRPr>
            </a:pPr>
            <a:r>
              <a:t>CONCLUSION</a:t>
            </a:r>
          </a:p>
        </p:txBody>
      </p:sp>
      <p:sp>
        <p:nvSpPr>
          <p:cNvPr id="8" name="Rounded Rectangle 7"/>
          <p:cNvSpPr/>
          <p:nvPr/>
        </p:nvSpPr>
        <p:spPr>
          <a:xfrm>
            <a:off x="7419385" y="490194"/>
            <a:ext cx="3931920" cy="574091"/>
          </a:xfrm>
          <a:prstGeom prst="roundRect">
            <a:avLst/>
          </a:prstGeom>
          <a:solidFill>
            <a:srgbClr val="DCEFFC"/>
          </a:solidFill>
          <a:ln w="12700">
            <a:solidFill>
              <a:srgbClr val="317B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89171" y="5175458"/>
            <a:ext cx="3566160" cy="338554"/>
          </a:xfrm>
          <a:prstGeom prst="rect">
            <a:avLst/>
          </a:prstGeom>
          <a:noFill/>
        </p:spPr>
        <p:txBody>
          <a:bodyPr wrap="square">
            <a:spAutoFit/>
          </a:bodyPr>
          <a:lstStyle/>
          <a:p>
            <a:pPr>
              <a:defRPr sz="1600" b="1">
                <a:solidFill>
                  <a:srgbClr val="14305C"/>
                </a:solidFill>
                <a:latin typeface="Arial"/>
              </a:defRPr>
            </a:pPr>
            <a:endParaRPr dirty="0"/>
          </a:p>
        </p:txBody>
      </p:sp>
      <p:sp>
        <p:nvSpPr>
          <p:cNvPr id="10" name="TextBox 9"/>
          <p:cNvSpPr txBox="1"/>
          <p:nvPr/>
        </p:nvSpPr>
        <p:spPr>
          <a:xfrm>
            <a:off x="7602265" y="658999"/>
            <a:ext cx="3566160" cy="667512"/>
          </a:xfrm>
          <a:prstGeom prst="rect">
            <a:avLst/>
          </a:prstGeom>
          <a:noFill/>
        </p:spPr>
        <p:txBody>
          <a:bodyPr wrap="square">
            <a:spAutoFit/>
          </a:bodyPr>
          <a:lstStyle/>
          <a:p>
            <a:pPr>
              <a:defRPr sz="1400" b="0">
                <a:solidFill>
                  <a:srgbClr val="232D3C"/>
                </a:solidFill>
                <a:latin typeface="Arial"/>
              </a:defRPr>
            </a:pPr>
            <a:r>
              <a:rPr dirty="0"/>
              <a:t>Learn → </a:t>
            </a:r>
            <a:r>
              <a:rPr dirty="0" err="1"/>
              <a:t>Practise</a:t>
            </a:r>
            <a:r>
              <a:rPr dirty="0"/>
              <a:t> → Build → Find Clients</a:t>
            </a:r>
          </a:p>
        </p:txBody>
      </p:sp>
      <p:sp>
        <p:nvSpPr>
          <p:cNvPr id="11" name="TextBox 10">
            <a:extLst>
              <a:ext uri="{FF2B5EF4-FFF2-40B4-BE49-F238E27FC236}">
                <a16:creationId xmlns:a16="http://schemas.microsoft.com/office/drawing/2014/main" id="{E47172FF-253B-1FA8-D872-D7F33BE94B1F}"/>
              </a:ext>
            </a:extLst>
          </p:cNvPr>
          <p:cNvSpPr txBox="1"/>
          <p:nvPr/>
        </p:nvSpPr>
        <p:spPr>
          <a:xfrm>
            <a:off x="464228" y="1335023"/>
            <a:ext cx="11331530" cy="2677656"/>
          </a:xfrm>
          <a:prstGeom prst="rect">
            <a:avLst/>
          </a:prstGeom>
          <a:noFill/>
        </p:spPr>
        <p:txBody>
          <a:bodyPr wrap="square" rtlCol="0">
            <a:spAutoFit/>
          </a:bodyPr>
          <a:lstStyle/>
          <a:p>
            <a:r>
              <a:rPr lang="en-US" sz="2400" dirty="0">
                <a:solidFill>
                  <a:schemeClr val="accent5">
                    <a:lumMod val="50000"/>
                  </a:schemeClr>
                </a:solidFill>
                <a:latin typeface="Comic Sans MS" panose="030F0702030302020204" pitchFamily="66" charset="0"/>
              </a:rPr>
              <a:t>Animation in Java combines programming and creativity to create interactive and engaging applications. In our project, we demonstrated this through letter-by-letter text, ball movement, color change, and size increase using Java graphics, timers, and repainting. These skills can be useful in freelance projects such as games, educational applications, simulations, and interactive software. Overall, Java provides a practical way to understand animation while developing both technical and creative skills.</a:t>
            </a:r>
            <a:endParaRPr lang="en-IN" sz="2400" dirty="0">
              <a:solidFill>
                <a:schemeClr val="accent5">
                  <a:lumMod val="50000"/>
                </a:schemeClr>
              </a:solidFill>
              <a:latin typeface="Comic Sans MS" panose="030F0702030302020204" pitchFamily="66" charset="0"/>
            </a:endParaRPr>
          </a:p>
        </p:txBody>
      </p:sp>
      <p:pic>
        <p:nvPicPr>
          <p:cNvPr id="15" name="Picture 14">
            <a:extLst>
              <a:ext uri="{FF2B5EF4-FFF2-40B4-BE49-F238E27FC236}">
                <a16:creationId xmlns:a16="http://schemas.microsoft.com/office/drawing/2014/main" id="{FD3BC95C-27DC-0503-3D18-472FE3ABA266}"/>
              </a:ext>
            </a:extLst>
          </p:cNvPr>
          <p:cNvPicPr>
            <a:picLocks noChangeAspect="1"/>
          </p:cNvPicPr>
          <p:nvPr/>
        </p:nvPicPr>
        <p:blipFill rotWithShape="1">
          <a:blip r:embed="rId2">
            <a:alphaModFix amt="8000"/>
          </a:blip>
          <a:srcRect t="-682" b="-682"/>
          <a:stretch>
            <a:fillRect/>
          </a:stretch>
        </p:blipFill>
        <p:spPr>
          <a:xfrm>
            <a:off x="-945239" y="1233090"/>
            <a:ext cx="13690286" cy="7569338"/>
          </a:xfrm>
          <a:prstGeom prst="rect">
            <a:avLst/>
          </a:prstGeom>
        </p:spPr>
      </p:pic>
    </p:spTree>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Dune</Template>
  <TotalTime>426</TotalTime>
  <Words>1291</Words>
  <Application>Microsoft Office PowerPoint</Application>
  <PresentationFormat>Widescreen</PresentationFormat>
  <Paragraphs>273</Paragraphs>
  <Slides>21</Slides>
  <Notes>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Yu Gothic UI Semibold</vt:lpstr>
      <vt:lpstr>Arial</vt:lpstr>
      <vt:lpstr>Calibri</vt:lpstr>
      <vt:lpstr>Century</vt:lpstr>
      <vt:lpstr>Comic Sans MS</vt:lpstr>
      <vt:lpstr>Neue Haas Grotesk Text Pro</vt: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Animation Through Freelancing in Java - Simple Student Presentation</dc:title>
  <dc:subject/>
  <dc:creator>Student Presentation</dc:creator>
  <cp:keywords/>
  <dc:description>generated using python-pptx</dc:description>
  <cp:lastModifiedBy>Tanu Rathore</cp:lastModifiedBy>
  <cp:revision>3</cp:revision>
  <dcterms:created xsi:type="dcterms:W3CDTF">2013-01-27T09:14:16Z</dcterms:created>
  <dcterms:modified xsi:type="dcterms:W3CDTF">2026-09-22T22:46:32Z</dcterms:modified>
  <cp:category/>
</cp:coreProperties>
</file>