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594360"/>
            <a:ext cx="1051560" cy="1051560"/>
          </a:xfrm>
          <a:prstGeom prst="ellipse">
            <a:avLst/>
          </a:prstGeom>
          <a:solidFill>
            <a:srgbClr val="C29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81160" y="603504"/>
            <a:ext cx="1051560" cy="103327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053D2B"/>
                </a:solidFill>
                <a:latin typeface="Aptos"/>
              </a:rPr>
              <a:t>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6928"/>
            <a:ext cx="6675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C3E0D1"/>
                </a:solidFill>
                <a:latin typeface="Aptos"/>
              </a:rPr>
              <a:t>RURALCONNECT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731520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Georgia"/>
              </a:rPr>
              <a:t>From villages
to greater markets.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65836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3E2DB"/>
                </a:solidFill>
                <a:latin typeface="Aptos"/>
              </a:rPr>
              <a:t>A digital B2B marketplace connecting rural producers
with retailers, restaurants and urban buyers.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77639"/>
            <a:ext cx="6583680" cy="18288"/>
          </a:xfrm>
          <a:prstGeom prst="rect">
            <a:avLst/>
          </a:prstGeom>
          <a:solidFill>
            <a:srgbClr val="4D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245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29130"/>
                </a:solidFill>
                <a:latin typeface="Aptos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17136"/>
            <a:ext cx="62179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Saumil Kurre  •  Ayush Kumar  •  Vasudev Choudhary
Shivam Sharma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49240"/>
            <a:ext cx="52120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DDDD6"/>
                </a:solidFill>
                <a:latin typeface="Aptos"/>
              </a:rPr>
              <a:t>Course: BCA – 5th Semester
Department: CSIT
Subject: Advanced Java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5029200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Project Topic  /  RuralConnect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5413248"/>
            <a:ext cx="2971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Submitted To
Dr. Ratnesh Shrivastava 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6355080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DCEBE3"/>
                </a:solidFill>
                <a:latin typeface="Aptos"/>
              </a:rPr>
              <a:t>CONNECT  •  TRADE  •  BID  •  GROW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01  • 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53D2B"/>
                </a:solidFill>
                <a:latin typeface="Aptos"/>
              </a:rPr>
              <a:t>The rural supply chain has a discovery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D6A65"/>
                </a:solidFill>
                <a:latin typeface="Aptos"/>
              </a:rPr>
              <a:t>RuralConnect focuses on the gap between producers who have supply and buyers who need reliable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6400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B04539"/>
                </a:solidFill>
                <a:latin typeface="Aptos"/>
              </a:rPr>
              <a:t>TODAY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96896"/>
            <a:ext cx="310896" cy="310896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06039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57860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8211E"/>
                </a:solidFill>
                <a:latin typeface="Aptos"/>
              </a:rPr>
              <a:t>Fragmented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560320"/>
            <a:ext cx="36118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A65"/>
                </a:solidFill>
                <a:latin typeface="Aptos"/>
              </a:rPr>
              <a:t>Small producers often depend on local or intermediary channels to reach larger buyers.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01568"/>
            <a:ext cx="310896" cy="310896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10711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383279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8211E"/>
                </a:solidFill>
                <a:latin typeface="Aptos"/>
              </a:rPr>
              <a:t>Limited price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64991"/>
            <a:ext cx="36118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A65"/>
                </a:solidFill>
                <a:latin typeface="Aptos"/>
              </a:rPr>
              <a:t>A producer may not know which buyer, quantity or price is available beyond the local market.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206240"/>
            <a:ext cx="310896" cy="310896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15383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187952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8211E"/>
                </a:solidFill>
                <a:latin typeface="Aptos"/>
              </a:rPr>
              <a:t>Manual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169664"/>
            <a:ext cx="36118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A65"/>
                </a:solidFill>
                <a:latin typeface="Aptos"/>
              </a:rPr>
              <a:t>Product discovery, ordering, quantities and follow-up can happen across calls and messages.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010912"/>
            <a:ext cx="310896" cy="310896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20055"/>
            <a:ext cx="31089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992624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8211E"/>
                </a:solidFill>
                <a:latin typeface="Aptos"/>
              </a:rPr>
              <a:t>Trust &amp;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974336"/>
            <a:ext cx="36118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D6A65"/>
                </a:solidFill>
                <a:latin typeface="Aptos"/>
              </a:rPr>
              <a:t>Buyers need product, stock, location and order information in one place.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874519"/>
            <a:ext cx="4279392" cy="4160520"/>
          </a:xfrm>
          <a:prstGeom prst="round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2" y="217627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29130"/>
                </a:solidFill>
                <a:latin typeface="Aptos"/>
              </a:rPr>
              <a:t>THE 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2514600"/>
            <a:ext cx="34747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From fragmented
transactions →
one connected market.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3977639"/>
            <a:ext cx="33375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3E2DB"/>
                </a:solidFill>
                <a:latin typeface="Aptos"/>
              </a:rPr>
              <a:t>A marketplace layer for discovery, bulk ordering, order visibility and price discovery through auctions.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62672" y="4983480"/>
            <a:ext cx="1078992" cy="658368"/>
          </a:xfrm>
          <a:prstGeom prst="roundRect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2" y="5065776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B2B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4983480"/>
            <a:ext cx="1078992" cy="658368"/>
          </a:xfrm>
          <a:prstGeom prst="roundRect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87968" y="5065776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BULK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13264" y="4983480"/>
            <a:ext cx="1078992" cy="658368"/>
          </a:xfrm>
          <a:prstGeom prst="roundRect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13264" y="5065776"/>
            <a:ext cx="10789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BID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02  •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One platform. Two sides. One connected marketplace.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3E2DB"/>
                </a:solidFill>
                <a:latin typeface="Aptos"/>
              </a:rPr>
              <a:t>RuralConnect is designed around the real journeys of producers and buyers.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331720"/>
            <a:ext cx="960120" cy="960120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40863"/>
            <a:ext cx="960120" cy="9418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01568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RURAL
PRODUCER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2331720"/>
            <a:ext cx="960120" cy="960120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340863"/>
            <a:ext cx="960120" cy="9418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3401568"/>
            <a:ext cx="1508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LIST
&amp; MANAGE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2331720"/>
            <a:ext cx="960120" cy="960120"/>
          </a:xfrm>
          <a:prstGeom prst="ellipse">
            <a:avLst/>
          </a:prstGeom>
          <a:solidFill>
            <a:srgbClr val="C29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40863"/>
            <a:ext cx="960120" cy="9418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53D2B"/>
                </a:solidFill>
                <a:latin typeface="Aptos"/>
              </a:rPr>
              <a:t>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401568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DISCOVER
&amp; ORDER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331720"/>
            <a:ext cx="960120" cy="960120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340863"/>
            <a:ext cx="960120" cy="9418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3401568"/>
            <a:ext cx="1737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BID &amp;
PRICE DISCOVER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2331720"/>
            <a:ext cx="960120" cy="960120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340863"/>
            <a:ext cx="960120" cy="9418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3401568"/>
            <a:ext cx="1645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TRACK &amp;
DELIVER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2816352"/>
            <a:ext cx="896111" cy="0"/>
          </a:xfrm>
          <a:prstGeom prst="line">
            <a:avLst/>
          </a:prstGeom>
          <a:ln w="27940">
            <a:solidFill>
              <a:srgbClr val="6CA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03320" y="2816352"/>
            <a:ext cx="896111" cy="0"/>
          </a:xfrm>
          <a:prstGeom prst="line">
            <a:avLst/>
          </a:prstGeom>
          <a:ln w="27940">
            <a:solidFill>
              <a:srgbClr val="6CA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23560" y="2816352"/>
            <a:ext cx="896112" cy="0"/>
          </a:xfrm>
          <a:prstGeom prst="line">
            <a:avLst/>
          </a:prstGeom>
          <a:ln w="27940">
            <a:solidFill>
              <a:srgbClr val="6CA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43800" y="2816352"/>
            <a:ext cx="896112" cy="0"/>
          </a:xfrm>
          <a:prstGeom prst="line">
            <a:avLst/>
          </a:prstGeom>
          <a:ln w="27940">
            <a:solidFill>
              <a:srgbClr val="6CA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4572000"/>
            <a:ext cx="2514600" cy="1143000"/>
          </a:xfrm>
          <a:prstGeom prst="roundRect">
            <a:avLst/>
          </a:prstGeom>
          <a:solidFill>
            <a:srgbClr val="0C533B"/>
          </a:solidFill>
          <a:ln>
            <a:solidFill>
              <a:srgbClr val="3E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773168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9130"/>
                </a:solidFill>
                <a:latin typeface="Aptos"/>
              </a:rPr>
              <a:t>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47488"/>
            <a:ext cx="2148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Visibility beyond the local buyer 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4572000"/>
            <a:ext cx="2514600" cy="1143000"/>
          </a:xfrm>
          <a:prstGeom prst="roundRect">
            <a:avLst/>
          </a:prstGeom>
          <a:solidFill>
            <a:srgbClr val="0C533B"/>
          </a:solidFill>
          <a:ln>
            <a:solidFill>
              <a:srgbClr val="3E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773168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9130"/>
                </a:solidFill>
                <a:latin typeface="Aptos"/>
              </a:rPr>
              <a:t>Buyer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047488"/>
            <a:ext cx="2148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Faster discovery + bulk purchasing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572000"/>
            <a:ext cx="2514600" cy="1143000"/>
          </a:xfrm>
          <a:prstGeom prst="roundRect">
            <a:avLst/>
          </a:prstGeom>
          <a:solidFill>
            <a:srgbClr val="0C533B"/>
          </a:solidFill>
          <a:ln>
            <a:solidFill>
              <a:srgbClr val="3E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773168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9130"/>
                </a:solidFill>
                <a:latin typeface="Aptos"/>
              </a:rPr>
              <a:t>Auction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047488"/>
            <a:ext cx="2148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Competitive price discovery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4572000"/>
            <a:ext cx="2514600" cy="1143000"/>
          </a:xfrm>
          <a:prstGeom prst="roundRect">
            <a:avLst/>
          </a:prstGeom>
          <a:solidFill>
            <a:srgbClr val="0C533B"/>
          </a:solidFill>
          <a:ln>
            <a:solidFill>
              <a:srgbClr val="3E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4773168"/>
            <a:ext cx="2148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9130"/>
                </a:solidFill>
                <a:latin typeface="Aptos"/>
              </a:rPr>
              <a:t>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5047488"/>
            <a:ext cx="2148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A repeatable transaction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03  •  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53D2B"/>
                </a:solidFill>
                <a:latin typeface="Aptos"/>
              </a:rPr>
              <a:t>Designed for convenience, not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D6A65"/>
                </a:solidFill>
                <a:latin typeface="Aptos"/>
              </a:rPr>
              <a:t>The product experience turns a multi-step buying process into a clear digital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53949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96943"/>
                </a:solidFill>
                <a:latin typeface="Aptos"/>
              </a:rPr>
              <a:t>BUYER JOURNEY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70048"/>
            <a:ext cx="347472" cy="34747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9191"/>
            <a:ext cx="34747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517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8211E"/>
                </a:solidFill>
                <a:latin typeface="Aptos"/>
              </a:rPr>
              <a:t>Browse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651760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Search by product, category, location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47472" cy="34747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34747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10712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8211E"/>
                </a:solidFill>
                <a:latin typeface="Aptos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410712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See price, unit, stock and producer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7952"/>
            <a:ext cx="347472" cy="34747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97096"/>
            <a:ext cx="34747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69664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8211E"/>
                </a:solidFill>
                <a:latin typeface="Aptos"/>
              </a:rPr>
              <a:t>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169664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Add quantities and place a bulk order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946904"/>
            <a:ext cx="347472" cy="34747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56048"/>
            <a:ext cx="34747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28616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8211E"/>
                </a:solidFill>
                <a:latin typeface="Aptos"/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928616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Follow: Placed → Confirmed → Packed → Shipped → Delivered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965960"/>
            <a:ext cx="5394960" cy="3977639"/>
          </a:xfrm>
          <a:prstGeom prst="round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2267712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PRODUCER JOURNEY</a:t>
            </a:r>
          </a:p>
        </p:txBody>
      </p:sp>
      <p:sp>
        <p:nvSpPr>
          <p:cNvPr id="26" name="Oval 25"/>
          <p:cNvSpPr/>
          <p:nvPr/>
        </p:nvSpPr>
        <p:spPr>
          <a:xfrm>
            <a:off x="6510528" y="2670048"/>
            <a:ext cx="347472" cy="34747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679191"/>
            <a:ext cx="34747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65176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Create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651760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D3E2DB"/>
                </a:solidFill>
                <a:latin typeface="Aptos"/>
              </a:rPr>
              <a:t>Become discoverable to buyers</a:t>
            </a:r>
          </a:p>
        </p:txBody>
      </p:sp>
      <p:sp>
        <p:nvSpPr>
          <p:cNvPr id="30" name="Oval 29"/>
          <p:cNvSpPr/>
          <p:nvPr/>
        </p:nvSpPr>
        <p:spPr>
          <a:xfrm>
            <a:off x="6510528" y="3429000"/>
            <a:ext cx="347472" cy="34747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438144"/>
            <a:ext cx="34747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41071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List supply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410712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D3E2DB"/>
                </a:solidFill>
                <a:latin typeface="Aptos"/>
              </a:rPr>
              <a:t>Product + price + unit + stock</a:t>
            </a:r>
          </a:p>
        </p:txBody>
      </p:sp>
      <p:sp>
        <p:nvSpPr>
          <p:cNvPr id="34" name="Oval 33"/>
          <p:cNvSpPr/>
          <p:nvPr/>
        </p:nvSpPr>
        <p:spPr>
          <a:xfrm>
            <a:off x="6510528" y="4187952"/>
            <a:ext cx="347472" cy="34747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197096"/>
            <a:ext cx="34747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4169664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Receive demand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169664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D3E2DB"/>
                </a:solidFill>
                <a:latin typeface="Aptos"/>
              </a:rPr>
              <a:t>Orders arrive through the dashboard</a:t>
            </a:r>
          </a:p>
        </p:txBody>
      </p:sp>
      <p:sp>
        <p:nvSpPr>
          <p:cNvPr id="38" name="Oval 37"/>
          <p:cNvSpPr/>
          <p:nvPr/>
        </p:nvSpPr>
        <p:spPr>
          <a:xfrm>
            <a:off x="6510528" y="4946904"/>
            <a:ext cx="347472" cy="34747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956048"/>
            <a:ext cx="34747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4928616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Auction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928616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D3E2DB"/>
                </a:solidFill>
                <a:latin typeface="Aptos"/>
              </a:rPr>
              <a:t>Choose a starting bid and let buyers compete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04  • 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53D2B"/>
                </a:solidFill>
                <a:latin typeface="Aptos"/>
              </a:rPr>
              <a:t>A digital storefront for rural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D6A65"/>
                </a:solidFill>
                <a:latin typeface="Aptos"/>
              </a:rPr>
              <a:t>The demo supports product discovery, cart-based purchasing, producer dashboards and order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47091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hatsApp Image 2026-09-28 at 20.01.41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307" y="1901952"/>
            <a:ext cx="1933265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993392"/>
            <a:ext cx="25786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88152" y="2139696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096943"/>
                </a:solidFill>
                <a:latin typeface="Aptos"/>
              </a:rPr>
              <a:t>PRODUCT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2432304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Search + category filters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993392"/>
            <a:ext cx="25786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39696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096943"/>
                </a:solidFill>
                <a:latin typeface="Aptos"/>
              </a:rPr>
              <a:t>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432304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Price, unit, stock &amp;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200400"/>
            <a:ext cx="25786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346704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096943"/>
                </a:solidFill>
                <a:latin typeface="Aptos"/>
              </a:rPr>
              <a:t>BULK BUYING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639312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Quantities built for B2B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200400"/>
            <a:ext cx="25786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3346704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096943"/>
                </a:solidFill>
                <a:latin typeface="Aptos"/>
              </a:rPr>
              <a:t>PRODUCER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3639312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List products &amp; view sales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4407408"/>
            <a:ext cx="25786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553712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096943"/>
                </a:solidFill>
                <a:latin typeface="Aptos"/>
              </a:rPr>
              <a:t>ORDER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88152" y="484632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Basic order tracking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4407408"/>
            <a:ext cx="2578608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4553712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096943"/>
                </a:solidFill>
                <a:latin typeface="Aptos"/>
              </a:rPr>
              <a:t>HELPER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484632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Guidance inside the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650992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8211E"/>
                </a:solidFill>
                <a:latin typeface="Aptos"/>
              </a:rPr>
              <a:t>What the demo already proves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5879592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A complete buyer → product → cart → order journey can be demonstrated end-to-end.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05  •  AUCTION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Let the market discover the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3E2DB"/>
                </a:solidFill>
                <a:latin typeface="Aptos"/>
              </a:rPr>
              <a:t>Instead of only publishing a fixed price, producers can create an auction and invite buyers to bid.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166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hatsApp Image 2026-09-28 at 20.01.4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058" y="1874519"/>
            <a:ext cx="1766962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89320" y="1874519"/>
            <a:ext cx="5605272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09-28 at 20.01.42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474" y="1874519"/>
            <a:ext cx="1766962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5961888"/>
            <a:ext cx="3520440" cy="347472"/>
          </a:xfrm>
          <a:prstGeom prst="roundRect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025896"/>
            <a:ext cx="3337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SET  →  BID  →  COMPETE  →  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5961888"/>
            <a:ext cx="3520440" cy="347472"/>
          </a:xfrm>
          <a:prstGeom prst="roundRect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6025896"/>
            <a:ext cx="3337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STARTING BID  •  QUANTITY  •  DURATION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5961888"/>
            <a:ext cx="3593592" cy="347472"/>
          </a:xfrm>
          <a:prstGeom prst="roundRect">
            <a:avLst/>
          </a:prstGeom>
          <a:solidFill>
            <a:srgbClr val="C29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6025896"/>
            <a:ext cx="34107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053D2B"/>
                </a:solidFill>
                <a:latin typeface="Aptos"/>
              </a:rPr>
              <a:t>HIGHER BID = BETTER PRICE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06  •  WHO PAYS?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53D2B"/>
                </a:solidFill>
                <a:latin typeface="Aptos"/>
              </a:rPr>
              <a:t>Build around recurring B2B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D6A65"/>
                </a:solidFill>
                <a:latin typeface="Aptos"/>
              </a:rPr>
              <a:t>RuralConnect can serve multiple customer groups without changing the core marketplace.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21991"/>
            <a:ext cx="502920" cy="502920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31135"/>
            <a:ext cx="50292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85415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6943"/>
                </a:solidFill>
                <a:latin typeface="Aptos"/>
              </a:rPr>
              <a:t>FARMERS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32888"/>
            <a:ext cx="4023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8211E"/>
                </a:solidFill>
                <a:latin typeface="Aptos"/>
              </a:rPr>
              <a:t>Rice • wheat • vegetables • honey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98648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Buyer side  •  Restaurants • retailers • distributors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2221991"/>
            <a:ext cx="502920" cy="502920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31135"/>
            <a:ext cx="50292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185415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6943"/>
                </a:solidFill>
                <a:latin typeface="Aptos"/>
              </a:rPr>
              <a:t>WEAVERS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32888"/>
            <a:ext cx="4023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8211E"/>
                </a:solidFill>
                <a:latin typeface="Aptos"/>
              </a:rPr>
              <a:t>Sarees • textiles • fabric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898648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Buyer side  •  Boutiques • resellers • stores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86200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142232"/>
            <a:ext cx="502920" cy="502920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51376"/>
            <a:ext cx="50292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05656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6943"/>
                </a:solidFill>
                <a:latin typeface="Aptos"/>
              </a:rPr>
              <a:t>ARTISANS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453128"/>
            <a:ext cx="4023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8211E"/>
                </a:solidFill>
                <a:latin typeface="Aptos"/>
              </a:rPr>
              <a:t>Handicrafts • local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18888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Buyer side  •  Retailers • gifting businesses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886200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60" y="4142232"/>
            <a:ext cx="502920" cy="502920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151376"/>
            <a:ext cx="50292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105656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96943"/>
                </a:solidFill>
                <a:latin typeface="Aptos"/>
              </a:rPr>
              <a:t>URBAN BUYERS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453128"/>
            <a:ext cx="4023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8211E"/>
                </a:solidFill>
                <a:latin typeface="Aptos"/>
              </a:rPr>
              <a:t>Bulk sourcing • repeat 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818888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D6A65"/>
                </a:solidFill>
                <a:latin typeface="Aptos"/>
              </a:rPr>
              <a:t>Buyer side  •  Lower search &amp; coordination effort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925312"/>
            <a:ext cx="10972800" cy="384048"/>
          </a:xfrm>
          <a:prstGeom prst="round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998464"/>
            <a:ext cx="10515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THE CORE VALUE: reduce discovery friction and make rural supply easier to buy at scale.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07  •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How RuralConnect can make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3E2DB"/>
                </a:solidFill>
                <a:latin typeface="Aptos"/>
              </a:rPr>
              <a:t>The following is an illustrative model for a future production version—not current project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3383280" cy="1874519"/>
          </a:xfrm>
          <a:prstGeom prst="roundRect">
            <a:avLst/>
          </a:prstGeom>
          <a:solidFill>
            <a:srgbClr val="0B523A"/>
          </a:solidFill>
          <a:ln>
            <a:solidFill>
              <a:srgbClr val="448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2913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2880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TRANSACTION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62072"/>
            <a:ext cx="2880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9130"/>
                </a:solidFill>
                <a:latin typeface="Aptos"/>
              </a:rPr>
              <a:t>3% of completed marketplace 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3E2DB"/>
                </a:solidFill>
                <a:latin typeface="Aptos"/>
              </a:rPr>
              <a:t>Earn when a trade happens.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901952"/>
            <a:ext cx="3383280" cy="1874519"/>
          </a:xfrm>
          <a:prstGeom prst="roundRect">
            <a:avLst/>
          </a:prstGeom>
          <a:solidFill>
            <a:srgbClr val="0B523A"/>
          </a:solidFill>
          <a:ln>
            <a:solidFill>
              <a:srgbClr val="448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13055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2913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87168"/>
            <a:ext cx="2880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PRODUCER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862072"/>
            <a:ext cx="2880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9130"/>
                </a:solidFill>
                <a:latin typeface="Aptos"/>
              </a:rPr>
              <a:t>₹199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24612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3E2DB"/>
                </a:solidFill>
                <a:latin typeface="Aptos"/>
              </a:rPr>
              <a:t>Premium visibility, analytics and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901952"/>
            <a:ext cx="3383280" cy="1874519"/>
          </a:xfrm>
          <a:prstGeom prst="roundRect">
            <a:avLst/>
          </a:prstGeom>
          <a:solidFill>
            <a:srgbClr val="0B523A"/>
          </a:solidFill>
          <a:ln>
            <a:solidFill>
              <a:srgbClr val="448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13055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2913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487168"/>
            <a:ext cx="2880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AUCTION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862072"/>
            <a:ext cx="2880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9130"/>
                </a:solidFill>
                <a:latin typeface="Aptos"/>
              </a:rPr>
              <a:t>1% of winning auction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24612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3E2DB"/>
                </a:solidFill>
                <a:latin typeface="Aptos"/>
              </a:rPr>
              <a:t>Monetize competitive price discovery.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160520"/>
            <a:ext cx="10972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96943"/>
                </a:solidFill>
                <a:latin typeface="Aptos"/>
              </a:rPr>
              <a:t>ILLUSTRATIVE MONTHLY 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18304"/>
            <a:ext cx="1280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53D2B"/>
                </a:solidFill>
                <a:latin typeface="Aptos"/>
              </a:rPr>
              <a:t>₹50L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D6A65"/>
                </a:solidFill>
                <a:latin typeface="Aptos"/>
              </a:rPr>
              <a:t>monthly GMV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727448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C29130"/>
                </a:solidFill>
                <a:latin typeface="Aptos"/>
              </a:rPr>
              <a:t>× 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718304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53D2B"/>
                </a:solidFill>
                <a:latin typeface="Aptos"/>
              </a:rPr>
              <a:t>₹1.50L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074920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D6A65"/>
                </a:solidFill>
                <a:latin typeface="Aptos"/>
              </a:rPr>
              <a:t>transaction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727448"/>
            <a:ext cx="365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C29130"/>
                </a:solidFill>
                <a:latin typeface="Aptos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718304"/>
            <a:ext cx="822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53D2B"/>
                </a:solidFill>
                <a:latin typeface="Aptos"/>
              </a:rPr>
              <a:t>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5074920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D6A65"/>
                </a:solidFill>
                <a:latin typeface="Aptos"/>
              </a:rPr>
              <a:t>Pro producers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727448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C29130"/>
                </a:solidFill>
                <a:latin typeface="Aptos"/>
              </a:rPr>
              <a:t>× ₹199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718304"/>
            <a:ext cx="1417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053D2B"/>
                </a:solidFill>
                <a:latin typeface="Aptos"/>
              </a:rPr>
              <a:t>= ₹59.7k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074920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D6A65"/>
                </a:solidFill>
                <a:latin typeface="Aptos"/>
              </a:rPr>
              <a:t>subscription 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736592"/>
            <a:ext cx="13258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96943"/>
                </a:solidFill>
                <a:latin typeface="Aptos"/>
              </a:rPr>
              <a:t>+ auction fees → ≈ ₹2.15L /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BACFC6"/>
                </a:solidFill>
                <a:latin typeface="Aptos"/>
              </a:rPr>
              <a:t>Assumption: ₹5L auction GMV/month × 1% = ₹5k. Scenario is illustrative and should be validated with real customer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08  •  SCALE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53D2B"/>
                </a:solidFill>
                <a:latin typeface="Aptos"/>
              </a:rPr>
              <a:t>A simple growth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D6A65"/>
                </a:solidFill>
                <a:latin typeface="Aptos"/>
              </a:rPr>
              <a:t>The business grows when more producers list, more buyers transact, and repeat purchasing increases.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54203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67712"/>
            <a:ext cx="2148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53D2B"/>
                </a:solidFill>
                <a:latin typeface="Aptos"/>
              </a:rPr>
              <a:t>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70632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96943"/>
                </a:solidFill>
                <a:latin typeface="Aptos"/>
              </a:rPr>
              <a:t>TARGET PRODUCERS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182112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D6A65"/>
                </a:solidFill>
                <a:latin typeface="Aptos"/>
              </a:rPr>
              <a:t>More supply &amp; geographic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965960"/>
            <a:ext cx="254203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67712"/>
            <a:ext cx="2148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53D2B"/>
                </a:solidFill>
                <a:latin typeface="Aptos"/>
              </a:rPr>
              <a:t>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70632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96943"/>
                </a:solidFill>
                <a:latin typeface="Aptos"/>
              </a:rPr>
              <a:t>TARGET BUYERS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82112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D6A65"/>
                </a:solidFill>
                <a:latin typeface="Aptos"/>
              </a:rPr>
              <a:t>More demand &amp; repeat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965960"/>
            <a:ext cx="254203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267712"/>
            <a:ext cx="2148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53D2B"/>
                </a:solidFill>
                <a:latin typeface="Aptos"/>
              </a:rPr>
              <a:t>₹50L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770632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96943"/>
                </a:solidFill>
                <a:latin typeface="Aptos"/>
              </a:rPr>
              <a:t>MONTHLY GMV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182112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D6A65"/>
                </a:solidFill>
                <a:latin typeface="Aptos"/>
              </a:rPr>
              <a:t>Illustrative transaction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1965960"/>
            <a:ext cx="254203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2267712"/>
            <a:ext cx="2148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53D2B"/>
                </a:solidFill>
                <a:latin typeface="Aptos"/>
              </a:rPr>
              <a:t>₹2.15L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770632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96943"/>
                </a:solidFill>
                <a:latin typeface="Aptos"/>
              </a:rPr>
              <a:t>MONTHLY PLATFORM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182112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D6A65"/>
                </a:solidFill>
                <a:latin typeface="Aptos"/>
              </a:rPr>
              <a:t>Illustrative revenue at the model above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1596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96943"/>
                </a:solidFill>
                <a:latin typeface="Aptos"/>
              </a:rPr>
              <a:t>THE 4 LEVERS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36592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8211E"/>
                </a:solidFill>
                <a:latin typeface="Aptos"/>
              </a:rPr>
              <a:t>Supply density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47488"/>
            <a:ext cx="2423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D6A65"/>
                </a:solidFill>
                <a:latin typeface="Aptos"/>
              </a:rPr>
              <a:t>More producers per 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4736592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8211E"/>
                </a:solidFill>
                <a:latin typeface="Aptos"/>
              </a:rPr>
              <a:t>Buyer acquisition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5047488"/>
            <a:ext cx="2423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D6A65"/>
                </a:solidFill>
                <a:latin typeface="Aptos"/>
              </a:rPr>
              <a:t>Retailers + restaurants + resellers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4736592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8211E"/>
                </a:solidFill>
                <a:latin typeface="Aptos"/>
              </a:rPr>
              <a:t>Repeat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5047488"/>
            <a:ext cx="2423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D6A65"/>
                </a:solidFill>
                <a:latin typeface="Aptos"/>
              </a:rPr>
              <a:t>Re-orders create recurring GMV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4736592"/>
            <a:ext cx="2423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8211E"/>
                </a:solidFill>
                <a:latin typeface="Aptos"/>
              </a:rPr>
              <a:t>Trust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5047488"/>
            <a:ext cx="2423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D6A65"/>
                </a:solidFill>
                <a:latin typeface="Aptos"/>
              </a:rPr>
              <a:t>Verification, reviews, payments &amp; logistics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806440"/>
            <a:ext cx="10972800" cy="411480"/>
          </a:xfrm>
          <a:prstGeom prst="round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97880"/>
            <a:ext cx="10607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GMV  =  active buyers × orders per buyer × average order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09  •  ROADMAP &amp;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From college prototype to scalable rural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3E2DB"/>
                </a:solidFill>
                <a:latin typeface="Aptos"/>
              </a:rPr>
              <a:t>The current project demonstrates the concept; the next step is turning the demo into a production-ready platform.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84831"/>
            <a:ext cx="530352" cy="53035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93975"/>
            <a:ext cx="53035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16152" y="2350008"/>
            <a:ext cx="2898648" cy="0"/>
          </a:xfrm>
          <a:prstGeom prst="line">
            <a:avLst/>
          </a:prstGeom>
          <a:ln w="25400">
            <a:solidFill>
              <a:srgbClr val="4C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816352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82112"/>
            <a:ext cx="30175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Marketplace
Producer + Buyer dashboards
Cart + demo orders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2084831"/>
            <a:ext cx="530352" cy="530352"/>
          </a:xfrm>
          <a:prstGeom prst="ellipse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93975"/>
            <a:ext cx="53035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19472" y="2350008"/>
            <a:ext cx="2898648" cy="0"/>
          </a:xfrm>
          <a:prstGeom prst="line">
            <a:avLst/>
          </a:prstGeom>
          <a:ln w="25400">
            <a:solidFill>
              <a:srgbClr val="4C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89120" y="2816352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82112"/>
            <a:ext cx="30175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Real authentication
Payments
Notifications
Reviews &amp; ratings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2084831"/>
            <a:ext cx="530352" cy="530352"/>
          </a:xfrm>
          <a:prstGeom prst="ellipse">
            <a:avLst/>
          </a:prstGeom>
          <a:solidFill>
            <a:srgbClr val="C29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093975"/>
            <a:ext cx="53035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3D2B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16352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9130"/>
                </a:solidFill>
                <a:latin typeface="Aptos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182112"/>
            <a:ext cx="30175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Cloud deployment
Real-time auctions
Logistics integration
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00600"/>
            <a:ext cx="10835640" cy="960120"/>
          </a:xfrm>
          <a:prstGeom prst="roundRect">
            <a:avLst/>
          </a:prstGeom>
          <a:solidFill>
            <a:srgbClr val="096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10912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RuralConnect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5047488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C29130"/>
                </a:solidFill>
                <a:latin typeface="Aptos"/>
              </a:rPr>
              <a:t>Connect → Trade → Bid → Grow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919472"/>
            <a:ext cx="36118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tos"/>
              </a:rPr>
              <a:t>A practical business concept powered by Java, web technologies and database-driven commerce.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08192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THANK YOU  •  QUESTIONS?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108192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3E2DB"/>
                </a:solidFill>
                <a:latin typeface="Aptos"/>
              </a:rPr>
              <a:t>Dr. Ratnesh Shrivastava Sir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 i="0">
                <a:solidFill>
                  <a:srgbClr val="5D6A65"/>
                </a:solidFill>
                <a:latin typeface="Aptos"/>
              </a:rPr>
              <a:t>RURALCONNECT  •  ADVANCED JAVA PROGRAMMING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09694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